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6" r:id="rId2"/>
    <p:sldId id="293" r:id="rId3"/>
    <p:sldId id="259" r:id="rId4"/>
    <p:sldId id="264" r:id="rId5"/>
    <p:sldId id="266" r:id="rId6"/>
    <p:sldId id="267" r:id="rId7"/>
    <p:sldId id="268" r:id="rId8"/>
    <p:sldId id="269" r:id="rId9"/>
    <p:sldId id="294" r:id="rId10"/>
    <p:sldId id="272" r:id="rId11"/>
    <p:sldId id="273" r:id="rId12"/>
    <p:sldId id="274" r:id="rId13"/>
    <p:sldId id="276" r:id="rId14"/>
    <p:sldId id="277" r:id="rId15"/>
    <p:sldId id="295" r:id="rId16"/>
    <p:sldId id="297" r:id="rId17"/>
    <p:sldId id="298" r:id="rId18"/>
  </p:sldIdLst>
  <p:sldSz cx="10080625" cy="5670550"/>
  <p:notesSz cx="7772400" cy="10058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970" autoAdjust="0"/>
  </p:normalViewPr>
  <p:slideViewPr>
    <p:cSldViewPr snapToGrid="0">
      <p:cViewPr varScale="1">
        <p:scale>
          <a:sx n="135" d="100"/>
          <a:sy n="135" d="100"/>
        </p:scale>
        <p:origin x="2148"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7C5F7C6A-712D-C805-AF92-74EF14AE0342}"/>
              </a:ext>
            </a:extLst>
          </p:cNvPr>
          <p:cNvSpPr txBox="1">
            <a:spLocks noGrp="1"/>
          </p:cNvSpPr>
          <p:nvPr>
            <p:ph type="hdr" sz="quarter"/>
          </p:nvPr>
        </p:nvSpPr>
        <p:spPr>
          <a:xfrm>
            <a:off x="0" y="0"/>
            <a:ext cx="3372840" cy="502560"/>
          </a:xfrm>
          <a:prstGeom prst="rect">
            <a:avLst/>
          </a:prstGeom>
          <a:noFill/>
          <a:ln>
            <a:noFill/>
          </a:ln>
        </p:spPr>
        <p:txBody>
          <a:bodyPr vert="horz" wrap="non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Source Han Sans CN" pitchFamily="2"/>
              <a:cs typeface="Lohit Devanagari" pitchFamily="2"/>
            </a:endParaRPr>
          </a:p>
        </p:txBody>
      </p:sp>
      <p:sp>
        <p:nvSpPr>
          <p:cNvPr id="3" name="Espace réservé de la date 2">
            <a:extLst>
              <a:ext uri="{FF2B5EF4-FFF2-40B4-BE49-F238E27FC236}">
                <a16:creationId xmlns:a16="http://schemas.microsoft.com/office/drawing/2014/main" id="{CC05EE8D-9585-84A4-27EF-32721B4AF086}"/>
              </a:ext>
            </a:extLst>
          </p:cNvPr>
          <p:cNvSpPr txBox="1">
            <a:spLocks noGrp="1"/>
          </p:cNvSpPr>
          <p:nvPr>
            <p:ph type="dt" sz="quarter" idx="1"/>
          </p:nvPr>
        </p:nvSpPr>
        <p:spPr>
          <a:xfrm>
            <a:off x="4399200" y="0"/>
            <a:ext cx="3372840" cy="50256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Source Han Sans CN" pitchFamily="2"/>
              <a:cs typeface="Lohit Devanagari" pitchFamily="2"/>
            </a:endParaRPr>
          </a:p>
        </p:txBody>
      </p:sp>
      <p:sp>
        <p:nvSpPr>
          <p:cNvPr id="4" name="Espace réservé du pied de page 3">
            <a:extLst>
              <a:ext uri="{FF2B5EF4-FFF2-40B4-BE49-F238E27FC236}">
                <a16:creationId xmlns:a16="http://schemas.microsoft.com/office/drawing/2014/main" id="{7ECE7588-0DC5-F357-093E-DC49A6371684}"/>
              </a:ext>
            </a:extLst>
          </p:cNvPr>
          <p:cNvSpPr txBox="1">
            <a:spLocks noGrp="1"/>
          </p:cNvSpPr>
          <p:nvPr>
            <p:ph type="ftr" sz="quarter" idx="2"/>
          </p:nvPr>
        </p:nvSpPr>
        <p:spPr>
          <a:xfrm>
            <a:off x="0" y="9555480"/>
            <a:ext cx="3372840" cy="502560"/>
          </a:xfrm>
          <a:prstGeom prst="rect">
            <a:avLst/>
          </a:prstGeom>
          <a:noFill/>
          <a:ln>
            <a:noFill/>
          </a:ln>
        </p:spPr>
        <p:txBody>
          <a:bodyPr vert="horz" wrap="non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US" sz="1400" b="0" i="0" u="none" strike="noStrike" kern="1200" cap="none">
              <a:ln>
                <a:noFill/>
              </a:ln>
              <a:latin typeface="Liberation Sans" pitchFamily="18"/>
              <a:ea typeface="Source Han Sans CN" pitchFamily="2"/>
              <a:cs typeface="Lohit Devanagari" pitchFamily="2"/>
            </a:endParaRPr>
          </a:p>
        </p:txBody>
      </p:sp>
      <p:sp>
        <p:nvSpPr>
          <p:cNvPr id="5" name="Espace réservé du numéro de diapositive 4">
            <a:extLst>
              <a:ext uri="{FF2B5EF4-FFF2-40B4-BE49-F238E27FC236}">
                <a16:creationId xmlns:a16="http://schemas.microsoft.com/office/drawing/2014/main" id="{9335E64B-B04A-93A8-0EA2-3BD08231782C}"/>
              </a:ext>
            </a:extLst>
          </p:cNvPr>
          <p:cNvSpPr txBox="1">
            <a:spLocks noGrp="1"/>
          </p:cNvSpPr>
          <p:nvPr>
            <p:ph type="sldNum" sz="quarter" idx="3"/>
          </p:nvPr>
        </p:nvSpPr>
        <p:spPr>
          <a:xfrm>
            <a:off x="4399200" y="9555480"/>
            <a:ext cx="3372840" cy="50256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DD5C12A5-224D-4571-8F5F-A85F30CD574E}" type="slidenum">
              <a:t>‹N°›</a:t>
            </a:fld>
            <a:endParaRPr lang="en-US" sz="1400" b="0" i="0" u="none" strike="noStrike" kern="1200" cap="none">
              <a:ln>
                <a:noFill/>
              </a:ln>
              <a:latin typeface="Liberation Sans" pitchFamily="18"/>
              <a:ea typeface="Source Han Sans CN" pitchFamily="2"/>
              <a:cs typeface="Lohit Devanagari" pitchFamily="2"/>
            </a:endParaRPr>
          </a:p>
        </p:txBody>
      </p:sp>
    </p:spTree>
    <p:extLst>
      <p:ext uri="{BB962C8B-B14F-4D97-AF65-F5344CB8AC3E}">
        <p14:creationId xmlns:p14="http://schemas.microsoft.com/office/powerpoint/2010/main" val="3110683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766D84D-CE62-8E6C-3CB8-1C102671A03F}"/>
              </a:ext>
            </a:extLst>
          </p:cNvPr>
          <p:cNvSpPr>
            <a:spLocks noGrp="1" noRot="1" noChangeAspect="1"/>
          </p:cNvSpPr>
          <p:nvPr>
            <p:ph type="sldImg" idx="2"/>
          </p:nvPr>
        </p:nvSpPr>
        <p:spPr>
          <a:xfrm>
            <a:off x="533520" y="764280"/>
            <a:ext cx="6704640" cy="3771360"/>
          </a:xfrm>
          <a:prstGeom prst="rect">
            <a:avLst/>
          </a:prstGeom>
          <a:noFill/>
          <a:ln>
            <a:noFill/>
            <a:prstDash val="solid"/>
          </a:ln>
        </p:spPr>
      </p:sp>
      <p:sp>
        <p:nvSpPr>
          <p:cNvPr id="3" name="Espace réservé des notes 2">
            <a:extLst>
              <a:ext uri="{FF2B5EF4-FFF2-40B4-BE49-F238E27FC236}">
                <a16:creationId xmlns:a16="http://schemas.microsoft.com/office/drawing/2014/main" id="{A2CAE540-810D-ED44-3042-C73C004EDB0C}"/>
              </a:ext>
            </a:extLst>
          </p:cNvPr>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Espace réservé de l'en-tête 3">
            <a:extLst>
              <a:ext uri="{FF2B5EF4-FFF2-40B4-BE49-F238E27FC236}">
                <a16:creationId xmlns:a16="http://schemas.microsoft.com/office/drawing/2014/main" id="{18D7E847-17F3-728D-DCC7-84A242048246}"/>
              </a:ext>
            </a:extLst>
          </p:cNvPr>
          <p:cNvSpPr txBox="1">
            <a:spLocks noGrp="1"/>
          </p:cNvSpPr>
          <p:nvPr>
            <p:ph type="hdr" sz="quarter"/>
          </p:nvPr>
        </p:nvSpPr>
        <p:spPr>
          <a:xfrm>
            <a:off x="0" y="0"/>
            <a:ext cx="3372840" cy="502560"/>
          </a:xfrm>
          <a:prstGeom prst="rect">
            <a:avLst/>
          </a:prstGeom>
          <a:noFill/>
          <a:ln>
            <a:noFill/>
          </a:ln>
        </p:spPr>
        <p:txBody>
          <a:bodyPr vert="horz" lIns="0" tIns="0" rIns="0" bIns="0" anchorCtr="0">
            <a:noAutofit/>
          </a:bodyPr>
          <a:lstStyle>
            <a:lvl1pPr lvl="0" rt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5" name="Espace réservé de la date 4">
            <a:extLst>
              <a:ext uri="{FF2B5EF4-FFF2-40B4-BE49-F238E27FC236}">
                <a16:creationId xmlns:a16="http://schemas.microsoft.com/office/drawing/2014/main" id="{C5DCAD05-1436-5B1C-2021-9853737881B8}"/>
              </a:ext>
            </a:extLst>
          </p:cNvPr>
          <p:cNvSpPr txBox="1">
            <a:spLocks noGrp="1"/>
          </p:cNvSpPr>
          <p:nvPr>
            <p:ph type="dt" idx="1"/>
          </p:nvPr>
        </p:nvSpPr>
        <p:spPr>
          <a:xfrm>
            <a:off x="4399200" y="0"/>
            <a:ext cx="3372840" cy="502560"/>
          </a:xfrm>
          <a:prstGeom prst="rect">
            <a:avLst/>
          </a:prstGeom>
          <a:noFill/>
          <a:ln>
            <a:noFill/>
          </a:ln>
        </p:spPr>
        <p:txBody>
          <a:bodyPr vert="horz" lIns="0" tIns="0" rIns="0" bIns="0" anchorCtr="0">
            <a:noAutofit/>
          </a:bodyPr>
          <a:lstStyle>
            <a:lvl1pPr lvl="0" algn="r" rt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6" name="Espace réservé du pied de page 5">
            <a:extLst>
              <a:ext uri="{FF2B5EF4-FFF2-40B4-BE49-F238E27FC236}">
                <a16:creationId xmlns:a16="http://schemas.microsoft.com/office/drawing/2014/main" id="{2A81B0AA-4BBA-E966-FDC0-D6116A68102F}"/>
              </a:ext>
            </a:extLst>
          </p:cNvPr>
          <p:cNvSpPr txBox="1">
            <a:spLocks noGrp="1"/>
          </p:cNvSpPr>
          <p:nvPr>
            <p:ph type="ftr" sz="quarter" idx="4"/>
          </p:nvPr>
        </p:nvSpPr>
        <p:spPr>
          <a:xfrm>
            <a:off x="0" y="9555480"/>
            <a:ext cx="3372840" cy="502560"/>
          </a:xfrm>
          <a:prstGeom prst="rect">
            <a:avLst/>
          </a:prstGeom>
          <a:noFill/>
          <a:ln>
            <a:noFill/>
          </a:ln>
        </p:spPr>
        <p:txBody>
          <a:bodyPr vert="horz" lIns="0" tIns="0" rIns="0" bIns="0" anchor="b" anchorCtr="0">
            <a:noAutofit/>
          </a:bodyPr>
          <a:lstStyle>
            <a:lvl1pPr lvl="0" rt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7" name="Espace réservé du numéro de diapositive 6">
            <a:extLst>
              <a:ext uri="{FF2B5EF4-FFF2-40B4-BE49-F238E27FC236}">
                <a16:creationId xmlns:a16="http://schemas.microsoft.com/office/drawing/2014/main" id="{0FA64E27-5CFE-17E5-754A-CC9E8FBAD2CF}"/>
              </a:ext>
            </a:extLst>
          </p:cNvPr>
          <p:cNvSpPr txBox="1">
            <a:spLocks noGrp="1"/>
          </p:cNvSpPr>
          <p:nvPr>
            <p:ph type="sldNum" sz="quarter" idx="5"/>
          </p:nvPr>
        </p:nvSpPr>
        <p:spPr>
          <a:xfrm>
            <a:off x="4399200" y="9555480"/>
            <a:ext cx="3372840" cy="502560"/>
          </a:xfrm>
          <a:prstGeom prst="rect">
            <a:avLst/>
          </a:prstGeom>
          <a:noFill/>
          <a:ln>
            <a:noFill/>
          </a:ln>
        </p:spPr>
        <p:txBody>
          <a:bodyPr vert="horz" lIns="0" tIns="0" rIns="0" bIns="0" anchor="b" anchorCtr="0">
            <a:noAutofit/>
          </a:bodyPr>
          <a:lstStyle>
            <a:lvl1pPr lvl="0" algn="r" rtl="0" hangingPunct="0">
              <a:buNone/>
              <a:tabLst/>
              <a:defRPr lang="en-US" sz="1400" kern="1200">
                <a:latin typeface="Liberation Serif" pitchFamily="18"/>
                <a:ea typeface="DejaVu Sans" pitchFamily="2"/>
                <a:cs typeface="DejaVu Sans" pitchFamily="2"/>
              </a:defRPr>
            </a:lvl1pPr>
          </a:lstStyle>
          <a:p>
            <a:pPr lvl="0"/>
            <a:fld id="{2B895DDA-A3DA-4D47-9EBB-5C07867FD9D7}" type="slidenum">
              <a:t>‹N°›</a:t>
            </a:fld>
            <a:endParaRPr lang="en-US"/>
          </a:p>
        </p:txBody>
      </p:sp>
    </p:spTree>
    <p:extLst>
      <p:ext uri="{BB962C8B-B14F-4D97-AF65-F5344CB8AC3E}">
        <p14:creationId xmlns:p14="http://schemas.microsoft.com/office/powerpoint/2010/main" val="2584458585"/>
      </p:ext>
    </p:extLst>
  </p:cSld>
  <p:clrMap bg1="lt1" tx1="dk1" bg2="lt2" tx2="dk2" accent1="accent1" accent2="accent2" accent3="accent3" accent4="accent4" accent5="accent5" accent6="accent6" hlink="hlink" folHlink="folHlink"/>
  <p:notesStyle>
    <a:lvl1pPr marL="216000" marR="0" indent="-216000" hangingPunct="0">
      <a:tabLst/>
      <a:defRPr lang="en-US" sz="2000" b="0" i="0" u="none" strike="noStrike" kern="1200" cap="none">
        <a:ln>
          <a:noFill/>
        </a:ln>
        <a:highlight>
          <a:scrgbClr r="0" g="0" b="0">
            <a:alpha val="0"/>
          </a:scrgbClr>
        </a:highlight>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spring.io/blog/2025/10/28/modularizing-spring-boot"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70362AA8-7D1B-86D0-4F41-E94D363AF39E}"/>
              </a:ext>
            </a:extLst>
          </p:cNvPr>
          <p:cNvSpPr txBox="1">
            <a:spLocks noGrp="1"/>
          </p:cNvSpPr>
          <p:nvPr>
            <p:ph type="sldNum" sz="quarter" idx="5"/>
          </p:nvPr>
        </p:nvSpPr>
        <p:spPr>
          <a:ln/>
        </p:spPr>
        <p:txBody>
          <a:bodyPr vert="horz" lIns="0" tIns="0" rIns="0" bIns="0" anchor="b" anchorCtr="0">
            <a:noAutofit/>
          </a:bodyPr>
          <a:lstStyle/>
          <a:p>
            <a:pPr lvl="0"/>
            <a:fld id="{EA9D1A66-2EE1-44CA-8D4D-1BFE377DFF48}" type="slidenum">
              <a:t>1</a:t>
            </a:fld>
            <a:endParaRPr lang="en-US"/>
          </a:p>
        </p:txBody>
      </p:sp>
      <p:sp>
        <p:nvSpPr>
          <p:cNvPr id="2" name="Espace réservé de l'image des diapositives 1">
            <a:extLst>
              <a:ext uri="{FF2B5EF4-FFF2-40B4-BE49-F238E27FC236}">
                <a16:creationId xmlns:a16="http://schemas.microsoft.com/office/drawing/2014/main" id="{138849A9-B16C-C2B3-9F35-0E029265AC6E}"/>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E3A60EEE-9565-CE26-246F-EC1A4E0615D0}"/>
              </a:ext>
            </a:extLst>
          </p:cNvPr>
          <p:cNvSpPr txBox="1">
            <a:spLocks noGrp="1"/>
          </p:cNvSpPr>
          <p:nvPr>
            <p:ph type="body" sz="quarter" idx="1"/>
          </p:nvPr>
        </p:nvSpPr>
        <p:spPr/>
        <p:txBody>
          <a:bodyPr vert="horz"/>
          <a:lstStyle/>
          <a:p>
            <a:pPr rtl="0"/>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E21B1-941E-1279-5C40-304DD39F2BBF}"/>
            </a:ext>
          </a:extLst>
        </p:cNvPr>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F637B162-6E1D-931A-2E04-51E20F37F23A}"/>
              </a:ext>
            </a:extLst>
          </p:cNvPr>
          <p:cNvSpPr txBox="1">
            <a:spLocks noGrp="1"/>
          </p:cNvSpPr>
          <p:nvPr>
            <p:ph type="sldNum" sz="quarter" idx="5"/>
          </p:nvPr>
        </p:nvSpPr>
        <p:spPr>
          <a:ln/>
        </p:spPr>
        <p:txBody>
          <a:bodyPr vert="horz" lIns="0" tIns="0" rIns="0" bIns="0" anchor="b" anchorCtr="0">
            <a:noAutofit/>
          </a:bodyPr>
          <a:lstStyle/>
          <a:p>
            <a:pPr lvl="0"/>
            <a:fld id="{EA9D1A66-2EE1-44CA-8D4D-1BFE377DFF48}" type="slidenum">
              <a:t>2</a:t>
            </a:fld>
            <a:endParaRPr lang="en-US"/>
          </a:p>
        </p:txBody>
      </p:sp>
      <p:sp>
        <p:nvSpPr>
          <p:cNvPr id="2" name="Espace réservé de l'image des diapositives 1">
            <a:extLst>
              <a:ext uri="{FF2B5EF4-FFF2-40B4-BE49-F238E27FC236}">
                <a16:creationId xmlns:a16="http://schemas.microsoft.com/office/drawing/2014/main" id="{6313750D-03BF-B0EC-D626-D1CAF1BC5A6A}"/>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CB87A0E3-8679-8FF5-A391-7C6C7D2EE93B}"/>
              </a:ext>
            </a:extLst>
          </p:cNvPr>
          <p:cNvSpPr txBox="1">
            <a:spLocks noGrp="1"/>
          </p:cNvSpPr>
          <p:nvPr>
            <p:ph type="body" sz="quarter" idx="1"/>
          </p:nvPr>
        </p:nvSpPr>
        <p:spPr/>
        <p:txBody>
          <a:bodyPr vert="horz"/>
          <a:lstStyle/>
          <a:p>
            <a:pPr rtl="0"/>
            <a:endParaRPr lang="en-US"/>
          </a:p>
        </p:txBody>
      </p:sp>
    </p:spTree>
    <p:extLst>
      <p:ext uri="{BB962C8B-B14F-4D97-AF65-F5344CB8AC3E}">
        <p14:creationId xmlns:p14="http://schemas.microsoft.com/office/powerpoint/2010/main" val="3992576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2B55870D-A3A0-359A-B9AC-015232E4B325}"/>
              </a:ext>
            </a:extLst>
          </p:cNvPr>
          <p:cNvSpPr txBox="1">
            <a:spLocks noGrp="1"/>
          </p:cNvSpPr>
          <p:nvPr>
            <p:ph type="sldNum" sz="quarter" idx="5"/>
          </p:nvPr>
        </p:nvSpPr>
        <p:spPr>
          <a:ln/>
        </p:spPr>
        <p:txBody>
          <a:bodyPr vert="horz" lIns="0" tIns="0" rIns="0" bIns="0" anchor="b" anchorCtr="0">
            <a:noAutofit/>
          </a:bodyPr>
          <a:lstStyle/>
          <a:p>
            <a:pPr lvl="0"/>
            <a:fld id="{01C33E7D-FB8D-4E0B-A7D9-38CE69019920}" type="slidenum">
              <a:t>3</a:t>
            </a:fld>
            <a:endParaRPr lang="en-US"/>
          </a:p>
        </p:txBody>
      </p:sp>
      <p:sp>
        <p:nvSpPr>
          <p:cNvPr id="2" name="Espace réservé de l'image des diapositives 1">
            <a:extLst>
              <a:ext uri="{FF2B5EF4-FFF2-40B4-BE49-F238E27FC236}">
                <a16:creationId xmlns:a16="http://schemas.microsoft.com/office/drawing/2014/main" id="{E0C395FA-9498-DB06-F211-DBABC9621B5B}"/>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F848BF36-6DFA-73F7-BD7E-5B9DD6390140}"/>
              </a:ext>
            </a:extLst>
          </p:cNvPr>
          <p:cNvSpPr txBox="1">
            <a:spLocks noGrp="1"/>
          </p:cNvSpPr>
          <p:nvPr>
            <p:ph type="body" sz="quarter" idx="1"/>
          </p:nvPr>
        </p:nvSpPr>
        <p:spPr/>
        <p:txBody>
          <a:bodyPr vert="horz"/>
          <a:lstStyle/>
          <a:p>
            <a:pPr rtl="0"/>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E662B198-0857-D35D-A7D4-824AACA5FF0D}"/>
              </a:ext>
            </a:extLst>
          </p:cNvPr>
          <p:cNvSpPr txBox="1">
            <a:spLocks noGrp="1"/>
          </p:cNvSpPr>
          <p:nvPr>
            <p:ph type="sldNum" sz="quarter" idx="5"/>
          </p:nvPr>
        </p:nvSpPr>
        <p:spPr>
          <a:ln/>
        </p:spPr>
        <p:txBody>
          <a:bodyPr vert="horz" lIns="0" tIns="0" rIns="0" bIns="0" anchor="b" anchorCtr="0">
            <a:noAutofit/>
          </a:bodyPr>
          <a:lstStyle/>
          <a:p>
            <a:pPr lvl="0"/>
            <a:fld id="{EE5C750D-4C61-4CA4-973B-F695628D4B85}" type="slidenum">
              <a:t>4</a:t>
            </a:fld>
            <a:endParaRPr lang="en-US"/>
          </a:p>
        </p:txBody>
      </p:sp>
      <p:sp>
        <p:nvSpPr>
          <p:cNvPr id="2" name="Espace réservé de l'image des diapositives 1">
            <a:extLst>
              <a:ext uri="{FF2B5EF4-FFF2-40B4-BE49-F238E27FC236}">
                <a16:creationId xmlns:a16="http://schemas.microsoft.com/office/drawing/2014/main" id="{F68A6437-3079-C381-2B5D-47E57A6DDB7B}"/>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A1C2056D-8B9A-4E81-2BEA-5A49E33F7C5F}"/>
              </a:ext>
            </a:extLst>
          </p:cNvPr>
          <p:cNvSpPr txBox="1">
            <a:spLocks noGrp="1"/>
          </p:cNvSpPr>
          <p:nvPr>
            <p:ph type="body" sz="quarter" idx="1"/>
          </p:nvPr>
        </p:nvSpPr>
        <p:spPr>
          <a:xfrm>
            <a:off x="756000" y="5078520"/>
            <a:ext cx="6047640" cy="4811040"/>
          </a:xfrm>
        </p:spPr>
        <p:txBody>
          <a:bodyPr vert="horz"/>
          <a:lstStyle/>
          <a:p>
            <a:pPr rtl="0"/>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BE10AB64-BF91-1C7C-E9ED-942EAA15286D}"/>
              </a:ext>
            </a:extLst>
          </p:cNvPr>
          <p:cNvSpPr txBox="1">
            <a:spLocks noGrp="1"/>
          </p:cNvSpPr>
          <p:nvPr>
            <p:ph type="sldNum" sz="quarter" idx="5"/>
          </p:nvPr>
        </p:nvSpPr>
        <p:spPr>
          <a:ln/>
        </p:spPr>
        <p:txBody>
          <a:bodyPr vert="horz" lIns="0" tIns="0" rIns="0" bIns="0" anchor="b" anchorCtr="0">
            <a:noAutofit/>
          </a:bodyPr>
          <a:lstStyle/>
          <a:p>
            <a:pPr lvl="0"/>
            <a:fld id="{80400D1E-F258-41F3-AB8B-BBEAAD1427E6}" type="slidenum">
              <a:t>5</a:t>
            </a:fld>
            <a:endParaRPr lang="en-US"/>
          </a:p>
        </p:txBody>
      </p:sp>
      <p:sp>
        <p:nvSpPr>
          <p:cNvPr id="2" name="Espace réservé de l'image des diapositives 1">
            <a:extLst>
              <a:ext uri="{FF2B5EF4-FFF2-40B4-BE49-F238E27FC236}">
                <a16:creationId xmlns:a16="http://schemas.microsoft.com/office/drawing/2014/main" id="{CF7E1255-4AF6-BF07-E04C-70DEBAC5D72C}"/>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40F4811C-4937-8C1E-D72D-EBF4251061A9}"/>
              </a:ext>
            </a:extLst>
          </p:cNvPr>
          <p:cNvSpPr txBox="1">
            <a:spLocks noGrp="1"/>
          </p:cNvSpPr>
          <p:nvPr>
            <p:ph type="body" sz="quarter" idx="1"/>
          </p:nvPr>
        </p:nvSpPr>
        <p:spPr>
          <a:xfrm>
            <a:off x="756000" y="5078520"/>
            <a:ext cx="6047640" cy="4811040"/>
          </a:xfrm>
        </p:spPr>
        <p:txBody>
          <a:bodyPr vert="horz"/>
          <a:lstStyle/>
          <a:p>
            <a:pPr rtl="0"/>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6AA49409-C533-AE97-08A3-A5AC54463BE8}"/>
              </a:ext>
            </a:extLst>
          </p:cNvPr>
          <p:cNvSpPr txBox="1">
            <a:spLocks noGrp="1"/>
          </p:cNvSpPr>
          <p:nvPr>
            <p:ph type="sldNum" sz="quarter" idx="5"/>
          </p:nvPr>
        </p:nvSpPr>
        <p:spPr>
          <a:ln/>
        </p:spPr>
        <p:txBody>
          <a:bodyPr vert="horz" lIns="0" tIns="0" rIns="0" bIns="0" anchor="b" anchorCtr="0">
            <a:noAutofit/>
          </a:bodyPr>
          <a:lstStyle/>
          <a:p>
            <a:pPr lvl="0"/>
            <a:fld id="{4D156B04-6B02-4CB6-9AAF-BD36F6024281}" type="slidenum">
              <a:t>6</a:t>
            </a:fld>
            <a:endParaRPr lang="en-US"/>
          </a:p>
        </p:txBody>
      </p:sp>
      <p:sp>
        <p:nvSpPr>
          <p:cNvPr id="2" name="Espace réservé de l'image des diapositives 1">
            <a:extLst>
              <a:ext uri="{FF2B5EF4-FFF2-40B4-BE49-F238E27FC236}">
                <a16:creationId xmlns:a16="http://schemas.microsoft.com/office/drawing/2014/main" id="{A8DBD5D5-7E7B-1C9C-FE54-3127754F319A}"/>
              </a:ext>
            </a:extLst>
          </p:cNvPr>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E90013CE-D81E-487F-3E55-4D2AF5A5CA07}"/>
              </a:ext>
            </a:extLst>
          </p:cNvPr>
          <p:cNvSpPr txBox="1">
            <a:spLocks noGrp="1"/>
          </p:cNvSpPr>
          <p:nvPr>
            <p:ph type="body" sz="quarter" idx="1"/>
          </p:nvPr>
        </p:nvSpPr>
        <p:spPr>
          <a:xfrm>
            <a:off x="756000" y="5078520"/>
            <a:ext cx="6047640" cy="4811040"/>
          </a:xfrm>
        </p:spPr>
        <p:txBody>
          <a:bodyPr vert="horz"/>
          <a:lstStyle/>
          <a:p>
            <a:pPr rtl="0"/>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17569942-DF4C-93CF-2D52-5E1ACDBDB635}"/>
              </a:ext>
            </a:extLst>
          </p:cNvPr>
          <p:cNvSpPr txBox="1">
            <a:spLocks noGrp="1"/>
          </p:cNvSpPr>
          <p:nvPr>
            <p:ph type="sldNum" sz="quarter" idx="5"/>
          </p:nvPr>
        </p:nvSpPr>
        <p:spPr>
          <a:ln/>
        </p:spPr>
        <p:txBody>
          <a:bodyPr vert="horz" lIns="0" tIns="0" rIns="0" bIns="0" anchor="b" anchorCtr="0">
            <a:noAutofit/>
          </a:bodyPr>
          <a:lstStyle/>
          <a:p>
            <a:pPr lvl="0"/>
            <a:fld id="{43713872-C8C5-43E9-978C-2556D72FFB51}" type="slidenum">
              <a:t>7</a:t>
            </a:fld>
            <a:endParaRPr lang="en-US"/>
          </a:p>
        </p:txBody>
      </p:sp>
      <p:sp>
        <p:nvSpPr>
          <p:cNvPr id="2" name="Espace réservé de l'image des diapositives 1">
            <a:extLst>
              <a:ext uri="{FF2B5EF4-FFF2-40B4-BE49-F238E27FC236}">
                <a16:creationId xmlns:a16="http://schemas.microsoft.com/office/drawing/2014/main" id="{1650182F-3D73-1566-36E6-C0543FF0C969}"/>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5572F086-232C-C079-5A0D-1F26E91B5BAA}"/>
              </a:ext>
            </a:extLst>
          </p:cNvPr>
          <p:cNvSpPr txBox="1">
            <a:spLocks noGrp="1"/>
          </p:cNvSpPr>
          <p:nvPr>
            <p:ph type="body" sz="quarter" idx="1"/>
          </p:nvPr>
        </p:nvSpPr>
        <p:spPr/>
        <p:txBody>
          <a:bodyPr vert="horz"/>
          <a:lstStyle/>
          <a:p>
            <a:pPr rtl="0"/>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9A96783E-52AB-E6B6-3FA9-5A9FE456B07B}"/>
              </a:ext>
            </a:extLst>
          </p:cNvPr>
          <p:cNvSpPr txBox="1">
            <a:spLocks noGrp="1"/>
          </p:cNvSpPr>
          <p:nvPr>
            <p:ph type="sldNum" sz="quarter" idx="5"/>
          </p:nvPr>
        </p:nvSpPr>
        <p:spPr>
          <a:ln/>
        </p:spPr>
        <p:txBody>
          <a:bodyPr vert="horz" lIns="0" tIns="0" rIns="0" bIns="0" anchor="b" anchorCtr="0">
            <a:noAutofit/>
          </a:bodyPr>
          <a:lstStyle/>
          <a:p>
            <a:pPr lvl="0"/>
            <a:fld id="{DA8CBEC8-AA86-4402-942B-66BBD28D763B}" type="slidenum">
              <a:t>8</a:t>
            </a:fld>
            <a:endParaRPr lang="en-US"/>
          </a:p>
        </p:txBody>
      </p:sp>
      <p:sp>
        <p:nvSpPr>
          <p:cNvPr id="2" name="Espace réservé de l'image des diapositives 1">
            <a:extLst>
              <a:ext uri="{FF2B5EF4-FFF2-40B4-BE49-F238E27FC236}">
                <a16:creationId xmlns:a16="http://schemas.microsoft.com/office/drawing/2014/main" id="{3D5D3443-B036-9818-EE63-3ABEAF1C734E}"/>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03981CD8-E339-D212-69D8-5F784D1475C7}"/>
              </a:ext>
            </a:extLst>
          </p:cNvPr>
          <p:cNvSpPr txBox="1">
            <a:spLocks noGrp="1"/>
          </p:cNvSpPr>
          <p:nvPr>
            <p:ph type="body" sz="quarter" idx="1"/>
          </p:nvPr>
        </p:nvSpPr>
        <p:spPr/>
        <p:txBody>
          <a:bodyPr vert="horz"/>
          <a:lstStyle/>
          <a:p>
            <a:pPr rtl="0"/>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C81BA205-A157-40D6-CE4B-16535B3E625C}"/>
              </a:ext>
            </a:extLst>
          </p:cNvPr>
          <p:cNvSpPr txBox="1">
            <a:spLocks noGrp="1"/>
          </p:cNvSpPr>
          <p:nvPr>
            <p:ph type="sldNum" sz="quarter" idx="5"/>
          </p:nvPr>
        </p:nvSpPr>
        <p:spPr>
          <a:ln/>
        </p:spPr>
        <p:txBody>
          <a:bodyPr vert="horz" lIns="0" tIns="0" rIns="0" bIns="0" anchor="b" anchorCtr="0">
            <a:noAutofit/>
          </a:bodyPr>
          <a:lstStyle/>
          <a:p>
            <a:pPr lvl="0"/>
            <a:fld id="{C1CE89F9-893B-4DF7-8C39-AB04718EA170}" type="slidenum">
              <a:t>10</a:t>
            </a:fld>
            <a:endParaRPr lang="en-US"/>
          </a:p>
        </p:txBody>
      </p:sp>
      <p:sp>
        <p:nvSpPr>
          <p:cNvPr id="2" name="Espace réservé de l'image des diapositives 1">
            <a:extLst>
              <a:ext uri="{FF2B5EF4-FFF2-40B4-BE49-F238E27FC236}">
                <a16:creationId xmlns:a16="http://schemas.microsoft.com/office/drawing/2014/main" id="{96537105-F97E-DD3A-429C-197B1D77D15F}"/>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FFD68829-671F-23FD-AE01-17A27624A973}"/>
              </a:ext>
            </a:extLst>
          </p:cNvPr>
          <p:cNvSpPr txBox="1">
            <a:spLocks noGrp="1"/>
          </p:cNvSpPr>
          <p:nvPr>
            <p:ph type="body" sz="quarter" idx="1"/>
          </p:nvPr>
        </p:nvSpPr>
        <p:spPr/>
        <p:txBody>
          <a:bodyPr vert="horz"/>
          <a:lstStyle/>
          <a:p>
            <a:pPr rtl="0"/>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1C6950D5-E502-B6DE-7422-D9EB5DEE0A05}"/>
              </a:ext>
            </a:extLst>
          </p:cNvPr>
          <p:cNvSpPr txBox="1">
            <a:spLocks noGrp="1"/>
          </p:cNvSpPr>
          <p:nvPr>
            <p:ph type="sldNum" sz="quarter" idx="5"/>
          </p:nvPr>
        </p:nvSpPr>
        <p:spPr>
          <a:ln/>
        </p:spPr>
        <p:txBody>
          <a:bodyPr vert="horz" lIns="0" tIns="0" rIns="0" bIns="0" anchor="b" anchorCtr="0">
            <a:noAutofit/>
          </a:bodyPr>
          <a:lstStyle/>
          <a:p>
            <a:pPr lvl="0"/>
            <a:fld id="{4169E2AB-DD2D-480E-B8A4-1BC76AEDDCBC}" type="slidenum">
              <a:t>11</a:t>
            </a:fld>
            <a:endParaRPr lang="en-US"/>
          </a:p>
        </p:txBody>
      </p:sp>
      <p:sp>
        <p:nvSpPr>
          <p:cNvPr id="2" name="Espace réservé de l'image des diapositives 1">
            <a:extLst>
              <a:ext uri="{FF2B5EF4-FFF2-40B4-BE49-F238E27FC236}">
                <a16:creationId xmlns:a16="http://schemas.microsoft.com/office/drawing/2014/main" id="{2DE645BC-8D96-5E82-1B9D-249DD05DF918}"/>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1916DBD3-1DFC-412B-5E6E-63889ED453AC}"/>
              </a:ext>
            </a:extLst>
          </p:cNvPr>
          <p:cNvSpPr txBox="1">
            <a:spLocks noGrp="1"/>
          </p:cNvSpPr>
          <p:nvPr>
            <p:ph type="body" sz="quarter" idx="1"/>
          </p:nvPr>
        </p:nvSpPr>
        <p:spPr/>
        <p:txBody>
          <a:bodyPr vert="horz"/>
          <a:lstStyle/>
          <a:p>
            <a:pPr rtl="0"/>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2D71F89C-C0CC-6083-4098-F13B276549F8}"/>
              </a:ext>
            </a:extLst>
          </p:cNvPr>
          <p:cNvSpPr txBox="1">
            <a:spLocks noGrp="1"/>
          </p:cNvSpPr>
          <p:nvPr>
            <p:ph type="sldNum" sz="quarter" idx="5"/>
          </p:nvPr>
        </p:nvSpPr>
        <p:spPr>
          <a:ln/>
        </p:spPr>
        <p:txBody>
          <a:bodyPr vert="horz" lIns="0" tIns="0" rIns="0" bIns="0" anchor="b" anchorCtr="0">
            <a:noAutofit/>
          </a:bodyPr>
          <a:lstStyle/>
          <a:p>
            <a:pPr lvl="0"/>
            <a:fld id="{1524653D-3197-4C17-A7AE-F25027FD1442}" type="slidenum">
              <a:t>12</a:t>
            </a:fld>
            <a:endParaRPr lang="en-US"/>
          </a:p>
        </p:txBody>
      </p:sp>
      <p:sp>
        <p:nvSpPr>
          <p:cNvPr id="2" name="Espace réservé de l'image des diapositives 1">
            <a:extLst>
              <a:ext uri="{FF2B5EF4-FFF2-40B4-BE49-F238E27FC236}">
                <a16:creationId xmlns:a16="http://schemas.microsoft.com/office/drawing/2014/main" id="{C18F0EE8-0B6D-4E2C-91F3-62649C0566C7}"/>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7EE5540D-9586-E7F5-7D55-CB529F27CBF3}"/>
              </a:ext>
            </a:extLst>
          </p:cNvPr>
          <p:cNvSpPr txBox="1">
            <a:spLocks noGrp="1"/>
          </p:cNvSpPr>
          <p:nvPr>
            <p:ph type="body" sz="quarter" idx="1"/>
          </p:nvPr>
        </p:nvSpPr>
        <p:spPr/>
        <p:txBody>
          <a:bodyPr vert="horz"/>
          <a:lstStyle/>
          <a:p>
            <a:pPr rtl="0"/>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7F0E8FB0-6A96-AE54-DF15-A567E64D02E3}"/>
              </a:ext>
            </a:extLst>
          </p:cNvPr>
          <p:cNvSpPr txBox="1">
            <a:spLocks noGrp="1"/>
          </p:cNvSpPr>
          <p:nvPr>
            <p:ph type="sldNum" sz="quarter" idx="5"/>
          </p:nvPr>
        </p:nvSpPr>
        <p:spPr>
          <a:ln/>
        </p:spPr>
        <p:txBody>
          <a:bodyPr vert="horz" lIns="0" tIns="0" rIns="0" bIns="0" anchor="b" anchorCtr="0">
            <a:noAutofit/>
          </a:bodyPr>
          <a:lstStyle/>
          <a:p>
            <a:pPr lvl="0"/>
            <a:fld id="{4048C9B4-285F-4340-B0AA-485BC9764BD4}" type="slidenum">
              <a:t>13</a:t>
            </a:fld>
            <a:endParaRPr lang="en-US"/>
          </a:p>
        </p:txBody>
      </p:sp>
      <p:sp>
        <p:nvSpPr>
          <p:cNvPr id="2" name="Espace réservé de l'image des diapositives 1">
            <a:extLst>
              <a:ext uri="{FF2B5EF4-FFF2-40B4-BE49-F238E27FC236}">
                <a16:creationId xmlns:a16="http://schemas.microsoft.com/office/drawing/2014/main" id="{A41D821C-318A-2CCC-F891-589C3364FE15}"/>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C1268059-04AA-5B6D-38A3-02F910633B78}"/>
              </a:ext>
            </a:extLst>
          </p:cNvPr>
          <p:cNvSpPr txBox="1">
            <a:spLocks noGrp="1"/>
          </p:cNvSpPr>
          <p:nvPr>
            <p:ph type="body" sz="quarter" idx="1"/>
          </p:nvPr>
        </p:nvSpPr>
        <p:spPr/>
        <p:txBody>
          <a:bodyPr vert="horz"/>
          <a:lstStyle/>
          <a:p>
            <a:pPr rtl="0"/>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A63E7E23-285E-F952-C641-DFDDA9AAC19A}"/>
              </a:ext>
            </a:extLst>
          </p:cNvPr>
          <p:cNvSpPr txBox="1">
            <a:spLocks noGrp="1"/>
          </p:cNvSpPr>
          <p:nvPr>
            <p:ph type="sldNum" sz="quarter" idx="5"/>
          </p:nvPr>
        </p:nvSpPr>
        <p:spPr>
          <a:ln/>
        </p:spPr>
        <p:txBody>
          <a:bodyPr vert="horz" lIns="0" tIns="0" rIns="0" bIns="0" anchor="b" anchorCtr="0">
            <a:noAutofit/>
          </a:bodyPr>
          <a:lstStyle/>
          <a:p>
            <a:pPr lvl="0"/>
            <a:fld id="{EFBE2655-EBC2-48FD-A99C-7A224839000B}" type="slidenum">
              <a:t>14</a:t>
            </a:fld>
            <a:endParaRPr lang="en-US"/>
          </a:p>
        </p:txBody>
      </p:sp>
      <p:sp>
        <p:nvSpPr>
          <p:cNvPr id="2" name="Espace réservé de l'image des diapositives 1">
            <a:extLst>
              <a:ext uri="{FF2B5EF4-FFF2-40B4-BE49-F238E27FC236}">
                <a16:creationId xmlns:a16="http://schemas.microsoft.com/office/drawing/2014/main" id="{188EA1F1-C54F-DAA6-BC88-F9646015EED0}"/>
              </a:ext>
            </a:extLst>
          </p:cNvPr>
          <p:cNvSpPr>
            <a:spLocks noGrp="1" noRot="1" noChangeAspect="1" noResize="1"/>
          </p:cNvSpPr>
          <p:nvPr>
            <p:ph type="sldImg"/>
          </p:nvPr>
        </p:nvSpPr>
        <p:spPr>
          <a:xfrm>
            <a:off x="533400" y="763588"/>
            <a:ext cx="6704013" cy="3771900"/>
          </a:xfrm>
          <a:solidFill>
            <a:srgbClr val="729FCF"/>
          </a:solidFill>
          <a:ln w="25400">
            <a:solidFill>
              <a:srgbClr val="3465A4"/>
            </a:solidFill>
            <a:prstDash val="solid"/>
          </a:ln>
        </p:spPr>
      </p:sp>
      <p:sp>
        <p:nvSpPr>
          <p:cNvPr id="3" name="Espace réservé des notes 2">
            <a:extLst>
              <a:ext uri="{FF2B5EF4-FFF2-40B4-BE49-F238E27FC236}">
                <a16:creationId xmlns:a16="http://schemas.microsoft.com/office/drawing/2014/main" id="{8B65180D-7C5F-6B11-A8DB-DEE2DE74FAFA}"/>
              </a:ext>
            </a:extLst>
          </p:cNvPr>
          <p:cNvSpPr txBox="1">
            <a:spLocks noGrp="1"/>
          </p:cNvSpPr>
          <p:nvPr>
            <p:ph type="body" sz="quarter" idx="1"/>
          </p:nvPr>
        </p:nvSpPr>
        <p:spPr/>
        <p:txBody>
          <a:bodyPr vert="horz"/>
          <a:lstStyle/>
          <a:p>
            <a:pPr rtl="0"/>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33400" y="763588"/>
            <a:ext cx="6704013" cy="3771900"/>
          </a:xfrm>
        </p:spPr>
      </p:sp>
      <p:sp>
        <p:nvSpPr>
          <p:cNvPr id="3" name="Espace réservé des notes 2"/>
          <p:cNvSpPr>
            <a:spLocks noGrp="1"/>
          </p:cNvSpPr>
          <p:nvPr>
            <p:ph type="body" idx="1"/>
          </p:nvPr>
        </p:nvSpPr>
        <p:spPr/>
        <p:txBody>
          <a:bodyPr/>
          <a:lstStyle/>
          <a:p>
            <a:pPr marL="216000" marR="0" lvl="0" indent="-216000" defTabSz="914400" eaLnBrk="1" fontAlgn="auto" latinLnBrk="0" hangingPunct="0">
              <a:lnSpc>
                <a:spcPct val="100000"/>
              </a:lnSpc>
              <a:spcBef>
                <a:spcPts val="0"/>
              </a:spcBef>
              <a:spcAft>
                <a:spcPts val="0"/>
              </a:spcAft>
              <a:buClrTx/>
              <a:buSzTx/>
              <a:buFontTx/>
              <a:buNone/>
              <a:tabLst/>
              <a:defRPr/>
            </a:pPr>
            <a:r>
              <a:rPr lang="fr-FR" dirty="0"/>
              <a:t>Au lieu d’un jar monolithique d’</a:t>
            </a:r>
            <a:r>
              <a:rPr lang="fr-FR" dirty="0" err="1"/>
              <a:t>auto-configuration</a:t>
            </a:r>
            <a:r>
              <a:rPr lang="fr-FR" dirty="0"/>
              <a:t>, la version 4 répartit les fonctions en </a:t>
            </a:r>
            <a:r>
              <a:rPr lang="fr-FR" b="1" dirty="0"/>
              <a:t>modules ciblés</a:t>
            </a:r>
          </a:p>
          <a:p>
            <a:pPr marL="216000" marR="0" lvl="0" indent="-216000" defTabSz="914400" eaLnBrk="1" fontAlgn="auto" latinLnBrk="0" hangingPunct="0">
              <a:lnSpc>
                <a:spcPct val="100000"/>
              </a:lnSpc>
              <a:spcBef>
                <a:spcPts val="0"/>
              </a:spcBef>
              <a:spcAft>
                <a:spcPts val="0"/>
              </a:spcAft>
              <a:buClrTx/>
              <a:buSzTx/>
              <a:buFontTx/>
              <a:buNone/>
              <a:tabLst/>
              <a:defRPr/>
            </a:pPr>
            <a:endParaRPr lang="fr-FR" b="1" dirty="0"/>
          </a:p>
          <a:p>
            <a:pPr>
              <a:buFont typeface="Arial" panose="020B0604020202020204" pitchFamily="34" charset="0"/>
              <a:buChar char="•"/>
            </a:pPr>
            <a:r>
              <a:rPr lang="fr-FR" dirty="0">
                <a:highlight>
                  <a:scrgbClr r="0" g="0" b="0">
                    <a:alpha val="0"/>
                  </a:scrgbClr>
                </a:highlight>
              </a:rPr>
              <a:t>Avantages :</a:t>
            </a:r>
          </a:p>
          <a:p>
            <a:pPr marL="742950" lvl="1" indent="-285750">
              <a:buFont typeface="Arial" panose="020B0604020202020204" pitchFamily="34" charset="0"/>
              <a:buChar char="•"/>
            </a:pPr>
            <a:r>
              <a:rPr lang="fr-FR" b="1" dirty="0">
                <a:highlight>
                  <a:scrgbClr r="0" g="0" b="0">
                    <a:alpha val="0"/>
                  </a:scrgbClr>
                </a:highlight>
              </a:rPr>
              <a:t>Clarté et maintenabilité</a:t>
            </a:r>
            <a:r>
              <a:rPr lang="fr-FR" dirty="0">
                <a:highlight>
                  <a:scrgbClr r="0" g="0" b="0">
                    <a:alpha val="0"/>
                  </a:scrgbClr>
                </a:highlight>
              </a:rPr>
              <a:t> : les frontières entre modules deviennent des contrats explicites, réduisant le « bruit » dans l’IDE. </a:t>
            </a:r>
            <a:r>
              <a:rPr lang="fr-FR" dirty="0">
                <a:highlight>
                  <a:scrgbClr r="0" g="0" b="0">
                    <a:alpha val="0"/>
                  </a:scrgbClr>
                </a:highlight>
                <a:hlinkClick r:id="rId3"/>
              </a:rPr>
              <a:t>Home</a:t>
            </a:r>
            <a:endParaRPr lang="fr-FR" dirty="0">
              <a:highlight>
                <a:scrgbClr r="0" g="0" b="0">
                  <a:alpha val="0"/>
                </a:scrgbClr>
              </a:highlight>
            </a:endParaRPr>
          </a:p>
          <a:p>
            <a:pPr marL="457200" lvl="1" indent="0">
              <a:buFont typeface="Arial" panose="020B0604020202020204" pitchFamily="34" charset="0"/>
              <a:buNone/>
            </a:pPr>
            <a:endParaRPr lang="fr-FR" dirty="0">
              <a:highlight>
                <a:scrgbClr r="0" g="0" b="0">
                  <a:alpha val="0"/>
                </a:scrgbClr>
              </a:highlight>
            </a:endParaRPr>
          </a:p>
          <a:p>
            <a:pPr>
              <a:buFont typeface="Arial" panose="020B0604020202020204" pitchFamily="34" charset="0"/>
              <a:buChar char="•"/>
            </a:pPr>
            <a:r>
              <a:rPr lang="fr-FR" dirty="0">
                <a:highlight>
                  <a:scrgbClr r="0" g="0" b="0">
                    <a:alpha val="0"/>
                  </a:scrgbClr>
                </a:highlight>
              </a:rPr>
              <a:t>Le module </a:t>
            </a:r>
            <a:r>
              <a:rPr lang="fr-FR" dirty="0" err="1">
                <a:highlight>
                  <a:scrgbClr r="0" g="0" b="0">
                    <a:alpha val="0"/>
                  </a:scrgbClr>
                </a:highlight>
                <a:latin typeface="Courier New" panose="02070309020205020404" pitchFamily="49" charset="0"/>
              </a:rPr>
              <a:t>spring</a:t>
            </a:r>
            <a:r>
              <a:rPr lang="fr-FR" dirty="0">
                <a:highlight>
                  <a:scrgbClr r="0" g="0" b="0">
                    <a:alpha val="0"/>
                  </a:scrgbClr>
                </a:highlight>
                <a:latin typeface="Courier New" panose="02070309020205020404" pitchFamily="49" charset="0"/>
              </a:rPr>
              <a:t>-boot-test-autoconfigure</a:t>
            </a:r>
            <a:r>
              <a:rPr lang="fr-FR" dirty="0">
                <a:highlight>
                  <a:scrgbClr r="0" g="0" b="0">
                    <a:alpha val="0"/>
                  </a:scrgbClr>
                </a:highlight>
              </a:rPr>
              <a:t> est lui aussi refactorisé en modules de test. Une correspondance “test-starter” est proposée pour chaque starter principal. </a:t>
            </a:r>
            <a:r>
              <a:rPr lang="fr-FR" dirty="0">
                <a:highlight>
                  <a:scrgbClr r="0" g="0" b="0">
                    <a:alpha val="0"/>
                  </a:scrgbClr>
                </a:highlight>
                <a:hlinkClick r:id="rId3"/>
              </a:rPr>
              <a:t>Home</a:t>
            </a:r>
            <a:endParaRPr lang="fr-FR" dirty="0">
              <a:highlight>
                <a:scrgbClr r="0" g="0" b="0">
                  <a:alpha val="0"/>
                </a:scrgbClr>
              </a:highlight>
            </a:endParaRPr>
          </a:p>
          <a:p>
            <a:pPr marL="216000" marR="0" lvl="0" indent="-216000" defTabSz="914400" eaLnBrk="1" fontAlgn="auto" latinLnBrk="0" hangingPunct="0">
              <a:lnSpc>
                <a:spcPct val="100000"/>
              </a:lnSpc>
              <a:spcBef>
                <a:spcPts val="0"/>
              </a:spcBef>
              <a:spcAft>
                <a:spcPts val="0"/>
              </a:spcAft>
              <a:buClrTx/>
              <a:buSzTx/>
              <a:buFontTx/>
              <a:buNone/>
              <a:tabLst/>
              <a:defRPr/>
            </a:pPr>
            <a:endParaRPr lang="fr-FR" b="1" dirty="0"/>
          </a:p>
          <a:p>
            <a:endParaRPr lang="fr-FR" dirty="0"/>
          </a:p>
        </p:txBody>
      </p:sp>
      <p:sp>
        <p:nvSpPr>
          <p:cNvPr id="4" name="Espace réservé du numéro de diapositive 3"/>
          <p:cNvSpPr>
            <a:spLocks noGrp="1"/>
          </p:cNvSpPr>
          <p:nvPr>
            <p:ph type="sldNum" sz="quarter" idx="5"/>
          </p:nvPr>
        </p:nvSpPr>
        <p:spPr/>
        <p:txBody>
          <a:bodyPr/>
          <a:lstStyle/>
          <a:p>
            <a:pPr lvl="0"/>
            <a:fld id="{2B895DDA-A3DA-4D47-9EBB-5C07867FD9D7}" type="slidenum">
              <a:rPr lang="fr-FR" smtClean="0"/>
              <a:t>16</a:t>
            </a:fld>
            <a:endParaRPr lang="fr-FR"/>
          </a:p>
        </p:txBody>
      </p:sp>
    </p:spTree>
    <p:extLst>
      <p:ext uri="{BB962C8B-B14F-4D97-AF65-F5344CB8AC3E}">
        <p14:creationId xmlns:p14="http://schemas.microsoft.com/office/powerpoint/2010/main" val="9837423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533400" y="763588"/>
            <a:ext cx="6704013" cy="3771900"/>
          </a:xfrm>
        </p:spPr>
      </p:sp>
      <p:sp>
        <p:nvSpPr>
          <p:cNvPr id="3" name="Espace réservé des notes 2"/>
          <p:cNvSpPr>
            <a:spLocks noGrp="1"/>
          </p:cNvSpPr>
          <p:nvPr>
            <p:ph type="body" idx="1"/>
          </p:nvPr>
        </p:nvSpPr>
        <p:spPr/>
        <p:txBody>
          <a:bodyPr/>
          <a:lstStyle/>
          <a:p>
            <a:r>
              <a:rPr lang="en-US" b="1" dirty="0"/>
              <a:t>Improved DDL generation</a:t>
            </a:r>
          </a:p>
          <a:p>
            <a:r>
              <a:rPr lang="en-US" dirty="0"/>
              <a:t>Several enhancements support improved control over DDL generation:</a:t>
            </a:r>
          </a:p>
          <a:p>
            <a:r>
              <a:rPr lang="en-US" dirty="0"/>
              <a:t>The </a:t>
            </a:r>
            <a:r>
              <a:rPr lang="en-US" sz="2000" b="0" i="0" u="none" strike="noStrike" kern="1200" cap="none" dirty="0">
                <a:ln>
                  <a:noFill/>
                </a:ln>
                <a:highlight>
                  <a:scrgbClr r="0" g="0" b="0">
                    <a:alpha val="0"/>
                  </a:scrgbClr>
                </a:highlight>
                <a:latin typeface="Liberation Sans" pitchFamily="18"/>
              </a:rPr>
              <a:t>@Table</a:t>
            </a:r>
            <a:r>
              <a:rPr lang="en-US" dirty="0"/>
              <a:t> and </a:t>
            </a:r>
            <a:r>
              <a:rPr lang="en-US" sz="2000" b="0" i="0" u="none" strike="noStrike" kern="1200" cap="none" dirty="0">
                <a:ln>
                  <a:noFill/>
                </a:ln>
                <a:highlight>
                  <a:scrgbClr r="0" g="0" b="0">
                    <a:alpha val="0"/>
                  </a:scrgbClr>
                </a:highlight>
                <a:latin typeface="Liberation Sans" pitchFamily="18"/>
              </a:rPr>
              <a:t>@Column</a:t>
            </a:r>
            <a:r>
              <a:rPr lang="en-US" dirty="0"/>
              <a:t> annotations now feature </a:t>
            </a:r>
            <a:r>
              <a:rPr lang="en-US" sz="2000" b="0" i="0" u="none" strike="noStrike" kern="1200" cap="none" dirty="0">
                <a:ln>
                  <a:noFill/>
                </a:ln>
                <a:highlight>
                  <a:scrgbClr r="0" g="0" b="0">
                    <a:alpha val="0"/>
                  </a:scrgbClr>
                </a:highlight>
                <a:latin typeface="Liberation Sans" pitchFamily="18"/>
              </a:rPr>
              <a:t>comment</a:t>
            </a:r>
            <a:r>
              <a:rPr lang="en-US" dirty="0"/>
              <a:t> and </a:t>
            </a:r>
            <a:r>
              <a:rPr lang="en-US" sz="2000" b="0" i="0" u="none" strike="noStrike" kern="1200" cap="none" dirty="0">
                <a:ln>
                  <a:noFill/>
                </a:ln>
                <a:highlight>
                  <a:scrgbClr r="0" g="0" b="0">
                    <a:alpha val="0"/>
                  </a:scrgbClr>
                </a:highlight>
                <a:latin typeface="Liberation Sans" pitchFamily="18"/>
              </a:rPr>
              <a:t>check</a:t>
            </a:r>
            <a:r>
              <a:rPr lang="en-US" dirty="0"/>
              <a:t> members, and check constraints are expressed via the new </a:t>
            </a:r>
            <a:r>
              <a:rPr lang="en-US" sz="2000" b="0" i="0" u="none" strike="noStrike" kern="1200" cap="none" dirty="0">
                <a:ln>
                  <a:noFill/>
                </a:ln>
                <a:highlight>
                  <a:scrgbClr r="0" g="0" b="0">
                    <a:alpha val="0"/>
                  </a:scrgbClr>
                </a:highlight>
                <a:latin typeface="Liberation Sans" pitchFamily="18"/>
              </a:rPr>
              <a:t>@CheckConstraint</a:t>
            </a:r>
            <a:r>
              <a:rPr lang="en-US" dirty="0"/>
              <a:t> annotation.</a:t>
            </a:r>
          </a:p>
          <a:p>
            <a:r>
              <a:rPr lang="en-US" dirty="0"/>
              <a:t>A number of annotations have a new </a:t>
            </a:r>
            <a:r>
              <a:rPr lang="en-US" sz="2000" b="0" i="0" u="none" strike="noStrike" kern="1200" cap="none" dirty="0">
                <a:ln>
                  <a:noFill/>
                </a:ln>
                <a:highlight>
                  <a:scrgbClr r="0" g="0" b="0">
                    <a:alpha val="0"/>
                  </a:scrgbClr>
                </a:highlight>
                <a:latin typeface="Liberation Sans" pitchFamily="18"/>
              </a:rPr>
              <a:t>options</a:t>
            </a:r>
            <a:r>
              <a:rPr lang="en-US" dirty="0"/>
              <a:t> member which may be used to append arbitrary SQL fragments to generated DDL. For </a:t>
            </a:r>
            <a:r>
              <a:rPr lang="en-US" sz="2000" b="0" i="0" u="none" strike="noStrike" kern="1200" cap="none" dirty="0">
                <a:ln>
                  <a:noFill/>
                </a:ln>
                <a:highlight>
                  <a:scrgbClr r="0" g="0" b="0">
                    <a:alpha val="0"/>
                  </a:scrgbClr>
                </a:highlight>
                <a:latin typeface="Liberation Sans" pitchFamily="18"/>
              </a:rPr>
              <a:t>@Column</a:t>
            </a:r>
            <a:r>
              <a:rPr lang="en-US" dirty="0"/>
              <a:t>, this now replaces many uses of the problematic </a:t>
            </a:r>
            <a:r>
              <a:rPr lang="en-US" sz="2000" b="0" i="0" u="none" strike="noStrike" kern="1200" cap="none" dirty="0" err="1">
                <a:ln>
                  <a:noFill/>
                </a:ln>
                <a:highlight>
                  <a:scrgbClr r="0" g="0" b="0">
                    <a:alpha val="0"/>
                  </a:scrgbClr>
                </a:highlight>
                <a:latin typeface="Liberation Sans" pitchFamily="18"/>
              </a:rPr>
              <a:t>columnDefinition</a:t>
            </a:r>
            <a:r>
              <a:rPr lang="en-US" dirty="0"/>
              <a:t> member.</a:t>
            </a:r>
          </a:p>
          <a:p>
            <a:r>
              <a:rPr lang="en-US" sz="2000" b="0" i="0" u="none" strike="noStrike" kern="1200" cap="none" dirty="0">
                <a:ln>
                  <a:noFill/>
                </a:ln>
                <a:highlight>
                  <a:scrgbClr r="0" g="0" b="0">
                    <a:alpha val="0"/>
                  </a:scrgbClr>
                </a:highlight>
                <a:latin typeface="Liberation Sans" pitchFamily="18"/>
              </a:rPr>
              <a:t>@Column</a:t>
            </a:r>
            <a:r>
              <a:rPr lang="en-US" dirty="0"/>
              <a:t> now has a </a:t>
            </a:r>
            <a:r>
              <a:rPr lang="en-US" sz="2000" b="0" i="0" u="none" strike="noStrike" kern="1200" cap="none" dirty="0" err="1">
                <a:ln>
                  <a:noFill/>
                </a:ln>
                <a:highlight>
                  <a:scrgbClr r="0" g="0" b="0">
                    <a:alpha val="0"/>
                  </a:scrgbClr>
                </a:highlight>
                <a:latin typeface="Liberation Sans" pitchFamily="18"/>
              </a:rPr>
              <a:t>secondPrecision</a:t>
            </a:r>
            <a:r>
              <a:rPr lang="en-US" dirty="0"/>
              <a:t> for mapping timestamps.</a:t>
            </a:r>
          </a:p>
          <a:p>
            <a:endParaRPr lang="en-US" dirty="0"/>
          </a:p>
          <a:p>
            <a:r>
              <a:rPr lang="en-US" b="1" dirty="0"/>
              <a:t>Record </a:t>
            </a:r>
            <a:r>
              <a:rPr lang="en-US" b="1" dirty="0" err="1"/>
              <a:t>embeddables</a:t>
            </a:r>
            <a:endParaRPr lang="en-US" b="1" dirty="0"/>
          </a:p>
          <a:p>
            <a:r>
              <a:rPr lang="en-US" dirty="0"/>
              <a:t>A Java record type may now be annotated </a:t>
            </a:r>
            <a:r>
              <a:rPr lang="en-US" sz="2000" b="0" i="0" u="none" strike="noStrike" kern="1200" cap="none" dirty="0">
                <a:ln>
                  <a:noFill/>
                </a:ln>
                <a:highlight>
                  <a:scrgbClr r="0" g="0" b="0">
                    <a:alpha val="0"/>
                  </a:scrgbClr>
                </a:highlight>
                <a:latin typeface="Liberation Sans" pitchFamily="18"/>
              </a:rPr>
              <a:t>@Embeddable</a:t>
            </a:r>
            <a:r>
              <a:rPr lang="en-US" dirty="0"/>
              <a:t> or used as an </a:t>
            </a:r>
            <a:r>
              <a:rPr lang="en-US" sz="2000" b="0" i="0" u="none" strike="noStrike" kern="1200" cap="none" dirty="0">
                <a:ln>
                  <a:noFill/>
                </a:ln>
                <a:highlight>
                  <a:scrgbClr r="0" g="0" b="0">
                    <a:alpha val="0"/>
                  </a:scrgbClr>
                </a:highlight>
                <a:latin typeface="Liberation Sans" pitchFamily="18"/>
              </a:rPr>
              <a:t>@IdClass</a:t>
            </a:r>
            <a:r>
              <a:rPr lang="en-US" dirty="0"/>
              <a:t>.</a:t>
            </a:r>
          </a:p>
          <a:p>
            <a:r>
              <a:rPr lang="en-US" dirty="0"/>
              <a:t>In addition, we’ve relaxed some useless restrictions:</a:t>
            </a:r>
          </a:p>
          <a:p>
            <a:r>
              <a:rPr lang="en-US" dirty="0"/>
              <a:t>entity and embeddable classes may now be </a:t>
            </a:r>
            <a:r>
              <a:rPr lang="en-US" sz="2000" b="0" i="0" u="none" strike="noStrike" kern="1200" cap="none" dirty="0">
                <a:ln>
                  <a:noFill/>
                </a:ln>
                <a:highlight>
                  <a:scrgbClr r="0" g="0" b="0">
                    <a:alpha val="0"/>
                  </a:scrgbClr>
                </a:highlight>
                <a:latin typeface="Liberation Sans" pitchFamily="18"/>
              </a:rPr>
              <a:t>static</a:t>
            </a:r>
            <a:r>
              <a:rPr lang="en-US" dirty="0"/>
              <a:t> inner classes, and</a:t>
            </a:r>
          </a:p>
          <a:p>
            <a:r>
              <a:rPr lang="en-US" dirty="0"/>
              <a:t>primary key classes are no longer required to be </a:t>
            </a:r>
            <a:r>
              <a:rPr lang="en-US" sz="2000" b="0" i="0" u="none" strike="noStrike" kern="1200" cap="none" dirty="0">
                <a:ln>
                  <a:noFill/>
                </a:ln>
                <a:highlight>
                  <a:scrgbClr r="0" g="0" b="0">
                    <a:alpha val="0"/>
                  </a:scrgbClr>
                </a:highlight>
                <a:latin typeface="Liberation Sans" pitchFamily="18"/>
              </a:rPr>
              <a:t>public</a:t>
            </a:r>
            <a:r>
              <a:rPr lang="en-US" dirty="0"/>
              <a:t> and serializable.</a:t>
            </a:r>
          </a:p>
          <a:p>
            <a:endParaRPr lang="fr-FR" dirty="0"/>
          </a:p>
        </p:txBody>
      </p:sp>
      <p:sp>
        <p:nvSpPr>
          <p:cNvPr id="4" name="Espace réservé du numéro de diapositive 3"/>
          <p:cNvSpPr>
            <a:spLocks noGrp="1"/>
          </p:cNvSpPr>
          <p:nvPr>
            <p:ph type="sldNum" sz="quarter" idx="5"/>
          </p:nvPr>
        </p:nvSpPr>
        <p:spPr/>
        <p:txBody>
          <a:bodyPr/>
          <a:lstStyle/>
          <a:p>
            <a:pPr lvl="0"/>
            <a:fld id="{2B895DDA-A3DA-4D47-9EBB-5C07867FD9D7}" type="slidenum">
              <a:rPr lang="fr-FR" smtClean="0"/>
              <a:t>17</a:t>
            </a:fld>
            <a:endParaRPr lang="fr-FR"/>
          </a:p>
        </p:txBody>
      </p:sp>
    </p:spTree>
    <p:extLst>
      <p:ext uri="{BB962C8B-B14F-4D97-AF65-F5344CB8AC3E}">
        <p14:creationId xmlns:p14="http://schemas.microsoft.com/office/powerpoint/2010/main" val="1461727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EDF71B-5F80-5A80-EE3E-773A59ED5455}"/>
              </a:ext>
            </a:extLst>
          </p:cNvPr>
          <p:cNvSpPr>
            <a:spLocks noGrp="1"/>
          </p:cNvSpPr>
          <p:nvPr>
            <p:ph type="ctrTitle"/>
          </p:nvPr>
        </p:nvSpPr>
        <p:spPr>
          <a:xfrm>
            <a:off x="1260475" y="928688"/>
            <a:ext cx="7559675" cy="1973262"/>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E1F258EE-939E-9860-03C3-3A39653F4BFD}"/>
              </a:ext>
            </a:extLst>
          </p:cNvPr>
          <p:cNvSpPr>
            <a:spLocks noGrp="1"/>
          </p:cNvSpPr>
          <p:nvPr>
            <p:ph type="subTitle" idx="1"/>
          </p:nvPr>
        </p:nvSpPr>
        <p:spPr>
          <a:xfrm>
            <a:off x="1260475" y="2978150"/>
            <a:ext cx="7559675" cy="13700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2D0B306-F0BB-029F-55F7-17A26F878006}"/>
              </a:ext>
            </a:extLst>
          </p:cNvPr>
          <p:cNvSpPr>
            <a:spLocks noGrp="1"/>
          </p:cNvSpPr>
          <p:nvPr>
            <p:ph type="dt" sz="half" idx="10"/>
          </p:nvPr>
        </p:nvSpPr>
        <p:spPr/>
        <p:txBody>
          <a:bodyPr/>
          <a:lstStyle/>
          <a:p>
            <a:pPr lvl="0"/>
            <a:endParaRPr lang="en-US"/>
          </a:p>
        </p:txBody>
      </p:sp>
      <p:sp>
        <p:nvSpPr>
          <p:cNvPr id="5" name="Espace réservé du pied de page 4">
            <a:extLst>
              <a:ext uri="{FF2B5EF4-FFF2-40B4-BE49-F238E27FC236}">
                <a16:creationId xmlns:a16="http://schemas.microsoft.com/office/drawing/2014/main" id="{343412B8-AA5D-59E6-4A18-43222EEAEE29}"/>
              </a:ext>
            </a:extLst>
          </p:cNvPr>
          <p:cNvSpPr>
            <a:spLocks noGrp="1"/>
          </p:cNvSpPr>
          <p:nvPr>
            <p:ph type="ftr" sz="quarter" idx="11"/>
          </p:nvPr>
        </p:nvSpPr>
        <p:spPr/>
        <p:txBody>
          <a:bodyPr/>
          <a:lstStyle/>
          <a:p>
            <a:pPr lvl="0"/>
            <a:endParaRPr lang="en-US"/>
          </a:p>
        </p:txBody>
      </p:sp>
      <p:sp>
        <p:nvSpPr>
          <p:cNvPr id="6" name="Espace réservé du numéro de diapositive 5">
            <a:extLst>
              <a:ext uri="{FF2B5EF4-FFF2-40B4-BE49-F238E27FC236}">
                <a16:creationId xmlns:a16="http://schemas.microsoft.com/office/drawing/2014/main" id="{215CB538-CFA8-E045-0B13-0366EB9A0331}"/>
              </a:ext>
            </a:extLst>
          </p:cNvPr>
          <p:cNvSpPr>
            <a:spLocks noGrp="1"/>
          </p:cNvSpPr>
          <p:nvPr>
            <p:ph type="sldNum" sz="quarter" idx="12"/>
          </p:nvPr>
        </p:nvSpPr>
        <p:spPr/>
        <p:txBody>
          <a:bodyPr/>
          <a:lstStyle/>
          <a:p>
            <a:pPr lvl="0"/>
            <a:fld id="{404AACE3-11D1-49F5-B3E6-38D75925DB65}" type="slidenum">
              <a:t>‹N°›</a:t>
            </a:fld>
            <a:endParaRPr lang="en-US"/>
          </a:p>
        </p:txBody>
      </p:sp>
    </p:spTree>
    <p:extLst>
      <p:ext uri="{BB962C8B-B14F-4D97-AF65-F5344CB8AC3E}">
        <p14:creationId xmlns:p14="http://schemas.microsoft.com/office/powerpoint/2010/main" val="19621968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1B9CE9-E367-973B-6E8B-69EF9F61913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5C7F747-B153-A68B-5B70-F62F895A183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F95DE4C-84CA-8A55-15FB-F565769D052D}"/>
              </a:ext>
            </a:extLst>
          </p:cNvPr>
          <p:cNvSpPr>
            <a:spLocks noGrp="1"/>
          </p:cNvSpPr>
          <p:nvPr>
            <p:ph type="dt" sz="half" idx="10"/>
          </p:nvPr>
        </p:nvSpPr>
        <p:spPr/>
        <p:txBody>
          <a:bodyPr/>
          <a:lstStyle/>
          <a:p>
            <a:pPr lvl="0"/>
            <a:endParaRPr lang="en-US"/>
          </a:p>
        </p:txBody>
      </p:sp>
      <p:sp>
        <p:nvSpPr>
          <p:cNvPr id="5" name="Espace réservé du pied de page 4">
            <a:extLst>
              <a:ext uri="{FF2B5EF4-FFF2-40B4-BE49-F238E27FC236}">
                <a16:creationId xmlns:a16="http://schemas.microsoft.com/office/drawing/2014/main" id="{4D57F845-474A-248B-C789-D90464828E36}"/>
              </a:ext>
            </a:extLst>
          </p:cNvPr>
          <p:cNvSpPr>
            <a:spLocks noGrp="1"/>
          </p:cNvSpPr>
          <p:nvPr>
            <p:ph type="ftr" sz="quarter" idx="11"/>
          </p:nvPr>
        </p:nvSpPr>
        <p:spPr/>
        <p:txBody>
          <a:bodyPr/>
          <a:lstStyle/>
          <a:p>
            <a:pPr lvl="0"/>
            <a:endParaRPr lang="en-US"/>
          </a:p>
        </p:txBody>
      </p:sp>
      <p:sp>
        <p:nvSpPr>
          <p:cNvPr id="6" name="Espace réservé du numéro de diapositive 5">
            <a:extLst>
              <a:ext uri="{FF2B5EF4-FFF2-40B4-BE49-F238E27FC236}">
                <a16:creationId xmlns:a16="http://schemas.microsoft.com/office/drawing/2014/main" id="{25D3462A-1BCF-FD8F-1DA3-D43852FB2C11}"/>
              </a:ext>
            </a:extLst>
          </p:cNvPr>
          <p:cNvSpPr>
            <a:spLocks noGrp="1"/>
          </p:cNvSpPr>
          <p:nvPr>
            <p:ph type="sldNum" sz="quarter" idx="12"/>
          </p:nvPr>
        </p:nvSpPr>
        <p:spPr/>
        <p:txBody>
          <a:bodyPr/>
          <a:lstStyle/>
          <a:p>
            <a:pPr lvl="0"/>
            <a:fld id="{350EF812-6913-4E74-A2C3-20A903DCDFBE}" type="slidenum">
              <a:t>‹N°›</a:t>
            </a:fld>
            <a:endParaRPr lang="en-US"/>
          </a:p>
        </p:txBody>
      </p:sp>
    </p:spTree>
    <p:extLst>
      <p:ext uri="{BB962C8B-B14F-4D97-AF65-F5344CB8AC3E}">
        <p14:creationId xmlns:p14="http://schemas.microsoft.com/office/powerpoint/2010/main" val="790931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575FD5-61FA-AC6B-C6E6-4F47B22AAC46}"/>
              </a:ext>
            </a:extLst>
          </p:cNvPr>
          <p:cNvSpPr>
            <a:spLocks noGrp="1"/>
          </p:cNvSpPr>
          <p:nvPr>
            <p:ph type="title"/>
          </p:nvPr>
        </p:nvSpPr>
        <p:spPr>
          <a:xfrm>
            <a:off x="687388" y="1414463"/>
            <a:ext cx="8694737" cy="23574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06D3CE10-98B3-BC52-54AC-CCE9A0341BCC}"/>
              </a:ext>
            </a:extLst>
          </p:cNvPr>
          <p:cNvSpPr>
            <a:spLocks noGrp="1"/>
          </p:cNvSpPr>
          <p:nvPr>
            <p:ph type="body" idx="1"/>
          </p:nvPr>
        </p:nvSpPr>
        <p:spPr>
          <a:xfrm>
            <a:off x="687388" y="3794125"/>
            <a:ext cx="8694737" cy="1241425"/>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5584813-5FF5-E6FD-C310-271657BB7ED8}"/>
              </a:ext>
            </a:extLst>
          </p:cNvPr>
          <p:cNvSpPr>
            <a:spLocks noGrp="1"/>
          </p:cNvSpPr>
          <p:nvPr>
            <p:ph type="dt" sz="half" idx="10"/>
          </p:nvPr>
        </p:nvSpPr>
        <p:spPr/>
        <p:txBody>
          <a:bodyPr/>
          <a:lstStyle/>
          <a:p>
            <a:pPr lvl="0"/>
            <a:endParaRPr lang="en-US"/>
          </a:p>
        </p:txBody>
      </p:sp>
      <p:sp>
        <p:nvSpPr>
          <p:cNvPr id="5" name="Espace réservé du pied de page 4">
            <a:extLst>
              <a:ext uri="{FF2B5EF4-FFF2-40B4-BE49-F238E27FC236}">
                <a16:creationId xmlns:a16="http://schemas.microsoft.com/office/drawing/2014/main" id="{9AC16217-AB8E-14CB-6147-4F25372765E8}"/>
              </a:ext>
            </a:extLst>
          </p:cNvPr>
          <p:cNvSpPr>
            <a:spLocks noGrp="1"/>
          </p:cNvSpPr>
          <p:nvPr>
            <p:ph type="ftr" sz="quarter" idx="11"/>
          </p:nvPr>
        </p:nvSpPr>
        <p:spPr/>
        <p:txBody>
          <a:bodyPr/>
          <a:lstStyle/>
          <a:p>
            <a:pPr lvl="0"/>
            <a:endParaRPr lang="en-US"/>
          </a:p>
        </p:txBody>
      </p:sp>
      <p:sp>
        <p:nvSpPr>
          <p:cNvPr id="6" name="Espace réservé du numéro de diapositive 5">
            <a:extLst>
              <a:ext uri="{FF2B5EF4-FFF2-40B4-BE49-F238E27FC236}">
                <a16:creationId xmlns:a16="http://schemas.microsoft.com/office/drawing/2014/main" id="{F203A6FD-1310-2204-6F2E-630A97C792CA}"/>
              </a:ext>
            </a:extLst>
          </p:cNvPr>
          <p:cNvSpPr>
            <a:spLocks noGrp="1"/>
          </p:cNvSpPr>
          <p:nvPr>
            <p:ph type="sldNum" sz="quarter" idx="12"/>
          </p:nvPr>
        </p:nvSpPr>
        <p:spPr/>
        <p:txBody>
          <a:bodyPr/>
          <a:lstStyle/>
          <a:p>
            <a:pPr lvl="0"/>
            <a:fld id="{BD58FC02-B4F0-4047-A477-E9513EF10F61}" type="slidenum">
              <a:t>‹N°›</a:t>
            </a:fld>
            <a:endParaRPr lang="en-US"/>
          </a:p>
        </p:txBody>
      </p:sp>
    </p:spTree>
    <p:extLst>
      <p:ext uri="{BB962C8B-B14F-4D97-AF65-F5344CB8AC3E}">
        <p14:creationId xmlns:p14="http://schemas.microsoft.com/office/powerpoint/2010/main" val="1279387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432478-E6A3-26D9-E825-F83D6E0674A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7E69E50-168F-0FDE-9FCA-B26C19F9F254}"/>
              </a:ext>
            </a:extLst>
          </p:cNvPr>
          <p:cNvSpPr>
            <a:spLocks noGrp="1"/>
          </p:cNvSpPr>
          <p:nvPr>
            <p:ph sz="half" idx="1"/>
          </p:nvPr>
        </p:nvSpPr>
        <p:spPr>
          <a:xfrm>
            <a:off x="503238" y="1327150"/>
            <a:ext cx="4459287" cy="328771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DF5A2657-CC80-CC5B-3E9B-242BB67E7D24}"/>
              </a:ext>
            </a:extLst>
          </p:cNvPr>
          <p:cNvSpPr>
            <a:spLocks noGrp="1"/>
          </p:cNvSpPr>
          <p:nvPr>
            <p:ph sz="half" idx="2"/>
          </p:nvPr>
        </p:nvSpPr>
        <p:spPr>
          <a:xfrm>
            <a:off x="5114925" y="1327150"/>
            <a:ext cx="4460875" cy="328771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BDE407E-B471-DC6E-7033-734F1A6B0ADB}"/>
              </a:ext>
            </a:extLst>
          </p:cNvPr>
          <p:cNvSpPr>
            <a:spLocks noGrp="1"/>
          </p:cNvSpPr>
          <p:nvPr>
            <p:ph type="dt" sz="half" idx="10"/>
          </p:nvPr>
        </p:nvSpPr>
        <p:spPr/>
        <p:txBody>
          <a:bodyPr/>
          <a:lstStyle/>
          <a:p>
            <a:pPr lvl="0"/>
            <a:endParaRPr lang="en-US"/>
          </a:p>
        </p:txBody>
      </p:sp>
      <p:sp>
        <p:nvSpPr>
          <p:cNvPr id="6" name="Espace réservé du pied de page 5">
            <a:extLst>
              <a:ext uri="{FF2B5EF4-FFF2-40B4-BE49-F238E27FC236}">
                <a16:creationId xmlns:a16="http://schemas.microsoft.com/office/drawing/2014/main" id="{487B41AA-E28E-A3C3-5567-D453D5081F2A}"/>
              </a:ext>
            </a:extLst>
          </p:cNvPr>
          <p:cNvSpPr>
            <a:spLocks noGrp="1"/>
          </p:cNvSpPr>
          <p:nvPr>
            <p:ph type="ftr" sz="quarter" idx="11"/>
          </p:nvPr>
        </p:nvSpPr>
        <p:spPr/>
        <p:txBody>
          <a:bodyPr/>
          <a:lstStyle/>
          <a:p>
            <a:pPr lvl="0"/>
            <a:endParaRPr lang="en-US"/>
          </a:p>
        </p:txBody>
      </p:sp>
      <p:sp>
        <p:nvSpPr>
          <p:cNvPr id="7" name="Espace réservé du numéro de diapositive 6">
            <a:extLst>
              <a:ext uri="{FF2B5EF4-FFF2-40B4-BE49-F238E27FC236}">
                <a16:creationId xmlns:a16="http://schemas.microsoft.com/office/drawing/2014/main" id="{B022621D-9000-B2D1-ABE5-97106B29A92F}"/>
              </a:ext>
            </a:extLst>
          </p:cNvPr>
          <p:cNvSpPr>
            <a:spLocks noGrp="1"/>
          </p:cNvSpPr>
          <p:nvPr>
            <p:ph type="sldNum" sz="quarter" idx="12"/>
          </p:nvPr>
        </p:nvSpPr>
        <p:spPr/>
        <p:txBody>
          <a:bodyPr/>
          <a:lstStyle/>
          <a:p>
            <a:pPr lvl="0"/>
            <a:fld id="{B9A53840-6DB7-4AB7-87F8-E382585CE42E}" type="slidenum">
              <a:t>‹N°›</a:t>
            </a:fld>
            <a:endParaRPr lang="en-US"/>
          </a:p>
        </p:txBody>
      </p:sp>
    </p:spTree>
    <p:extLst>
      <p:ext uri="{BB962C8B-B14F-4D97-AF65-F5344CB8AC3E}">
        <p14:creationId xmlns:p14="http://schemas.microsoft.com/office/powerpoint/2010/main" val="3948963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3461AD-7852-2B09-FE95-381FAEBB39D7}"/>
              </a:ext>
            </a:extLst>
          </p:cNvPr>
          <p:cNvSpPr>
            <a:spLocks noGrp="1"/>
          </p:cNvSpPr>
          <p:nvPr>
            <p:ph type="title"/>
          </p:nvPr>
        </p:nvSpPr>
        <p:spPr>
          <a:xfrm>
            <a:off x="693738" y="301625"/>
            <a:ext cx="8694737" cy="10969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C75E084-DF3E-8A15-78E8-F7BAABA97ADC}"/>
              </a:ext>
            </a:extLst>
          </p:cNvPr>
          <p:cNvSpPr>
            <a:spLocks noGrp="1"/>
          </p:cNvSpPr>
          <p:nvPr>
            <p:ph type="body" idx="1"/>
          </p:nvPr>
        </p:nvSpPr>
        <p:spPr>
          <a:xfrm>
            <a:off x="693738" y="1390650"/>
            <a:ext cx="426561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8E5F773-57AC-C2FF-D141-A9FD59CEEC64}"/>
              </a:ext>
            </a:extLst>
          </p:cNvPr>
          <p:cNvSpPr>
            <a:spLocks noGrp="1"/>
          </p:cNvSpPr>
          <p:nvPr>
            <p:ph sz="half" idx="2"/>
          </p:nvPr>
        </p:nvSpPr>
        <p:spPr>
          <a:xfrm>
            <a:off x="693738" y="2071688"/>
            <a:ext cx="4265612" cy="304641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F6CA69C-4C2E-850F-E4BE-27E5F56355A5}"/>
              </a:ext>
            </a:extLst>
          </p:cNvPr>
          <p:cNvSpPr>
            <a:spLocks noGrp="1"/>
          </p:cNvSpPr>
          <p:nvPr>
            <p:ph type="body" sz="quarter" idx="3"/>
          </p:nvPr>
        </p:nvSpPr>
        <p:spPr>
          <a:xfrm>
            <a:off x="5103813" y="1390650"/>
            <a:ext cx="4284662" cy="6810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B469AD8-3101-36B7-8321-CE69FAF28D07}"/>
              </a:ext>
            </a:extLst>
          </p:cNvPr>
          <p:cNvSpPr>
            <a:spLocks noGrp="1"/>
          </p:cNvSpPr>
          <p:nvPr>
            <p:ph sz="quarter" idx="4"/>
          </p:nvPr>
        </p:nvSpPr>
        <p:spPr>
          <a:xfrm>
            <a:off x="5103813" y="2071688"/>
            <a:ext cx="4284662" cy="304641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C3B277D-62B3-E185-840B-A3C9E5B84183}"/>
              </a:ext>
            </a:extLst>
          </p:cNvPr>
          <p:cNvSpPr>
            <a:spLocks noGrp="1"/>
          </p:cNvSpPr>
          <p:nvPr>
            <p:ph type="dt" sz="half" idx="10"/>
          </p:nvPr>
        </p:nvSpPr>
        <p:spPr/>
        <p:txBody>
          <a:bodyPr/>
          <a:lstStyle/>
          <a:p>
            <a:pPr lvl="0"/>
            <a:endParaRPr lang="en-US"/>
          </a:p>
        </p:txBody>
      </p:sp>
      <p:sp>
        <p:nvSpPr>
          <p:cNvPr id="8" name="Espace réservé du pied de page 7">
            <a:extLst>
              <a:ext uri="{FF2B5EF4-FFF2-40B4-BE49-F238E27FC236}">
                <a16:creationId xmlns:a16="http://schemas.microsoft.com/office/drawing/2014/main" id="{7CA7CFED-58B2-8004-5BDA-A3EAA6782D03}"/>
              </a:ext>
            </a:extLst>
          </p:cNvPr>
          <p:cNvSpPr>
            <a:spLocks noGrp="1"/>
          </p:cNvSpPr>
          <p:nvPr>
            <p:ph type="ftr" sz="quarter" idx="11"/>
          </p:nvPr>
        </p:nvSpPr>
        <p:spPr/>
        <p:txBody>
          <a:bodyPr/>
          <a:lstStyle/>
          <a:p>
            <a:pPr lvl="0"/>
            <a:endParaRPr lang="en-US"/>
          </a:p>
        </p:txBody>
      </p:sp>
      <p:sp>
        <p:nvSpPr>
          <p:cNvPr id="9" name="Espace réservé du numéro de diapositive 8">
            <a:extLst>
              <a:ext uri="{FF2B5EF4-FFF2-40B4-BE49-F238E27FC236}">
                <a16:creationId xmlns:a16="http://schemas.microsoft.com/office/drawing/2014/main" id="{5DE01A8A-D03E-7FE5-8A8C-ACFB75C6C95F}"/>
              </a:ext>
            </a:extLst>
          </p:cNvPr>
          <p:cNvSpPr>
            <a:spLocks noGrp="1"/>
          </p:cNvSpPr>
          <p:nvPr>
            <p:ph type="sldNum" sz="quarter" idx="12"/>
          </p:nvPr>
        </p:nvSpPr>
        <p:spPr/>
        <p:txBody>
          <a:bodyPr/>
          <a:lstStyle/>
          <a:p>
            <a:pPr lvl="0"/>
            <a:fld id="{9299656C-E9C0-46FA-AD3D-73499A7CAC2F}" type="slidenum">
              <a:t>‹N°›</a:t>
            </a:fld>
            <a:endParaRPr lang="en-US"/>
          </a:p>
        </p:txBody>
      </p:sp>
    </p:spTree>
    <p:extLst>
      <p:ext uri="{BB962C8B-B14F-4D97-AF65-F5344CB8AC3E}">
        <p14:creationId xmlns:p14="http://schemas.microsoft.com/office/powerpoint/2010/main" val="3339072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F9A4E8-A5BF-86CF-BAF3-28710D50F4D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CD244E54-997F-36F6-93D3-410ADF7BC8B2}"/>
              </a:ext>
            </a:extLst>
          </p:cNvPr>
          <p:cNvSpPr>
            <a:spLocks noGrp="1"/>
          </p:cNvSpPr>
          <p:nvPr>
            <p:ph type="dt" sz="half" idx="10"/>
          </p:nvPr>
        </p:nvSpPr>
        <p:spPr/>
        <p:txBody>
          <a:bodyPr/>
          <a:lstStyle/>
          <a:p>
            <a:pPr lvl="0"/>
            <a:endParaRPr lang="en-US"/>
          </a:p>
        </p:txBody>
      </p:sp>
      <p:sp>
        <p:nvSpPr>
          <p:cNvPr id="4" name="Espace réservé du pied de page 3">
            <a:extLst>
              <a:ext uri="{FF2B5EF4-FFF2-40B4-BE49-F238E27FC236}">
                <a16:creationId xmlns:a16="http://schemas.microsoft.com/office/drawing/2014/main" id="{76BFDA05-1CAF-E38C-6FD7-99CDE8A619CE}"/>
              </a:ext>
            </a:extLst>
          </p:cNvPr>
          <p:cNvSpPr>
            <a:spLocks noGrp="1"/>
          </p:cNvSpPr>
          <p:nvPr>
            <p:ph type="ftr" sz="quarter" idx="11"/>
          </p:nvPr>
        </p:nvSpPr>
        <p:spPr/>
        <p:txBody>
          <a:bodyPr/>
          <a:lstStyle/>
          <a:p>
            <a:pPr lvl="0"/>
            <a:endParaRPr lang="en-US"/>
          </a:p>
        </p:txBody>
      </p:sp>
      <p:sp>
        <p:nvSpPr>
          <p:cNvPr id="5" name="Espace réservé du numéro de diapositive 4">
            <a:extLst>
              <a:ext uri="{FF2B5EF4-FFF2-40B4-BE49-F238E27FC236}">
                <a16:creationId xmlns:a16="http://schemas.microsoft.com/office/drawing/2014/main" id="{03C72CB8-D622-069A-745B-B7CA0C84AA28}"/>
              </a:ext>
            </a:extLst>
          </p:cNvPr>
          <p:cNvSpPr>
            <a:spLocks noGrp="1"/>
          </p:cNvSpPr>
          <p:nvPr>
            <p:ph type="sldNum" sz="quarter" idx="12"/>
          </p:nvPr>
        </p:nvSpPr>
        <p:spPr/>
        <p:txBody>
          <a:bodyPr/>
          <a:lstStyle/>
          <a:p>
            <a:pPr lvl="0"/>
            <a:fld id="{E0A963C8-F752-4F8B-BD58-FEC8A6E59F49}" type="slidenum">
              <a:t>‹N°›</a:t>
            </a:fld>
            <a:endParaRPr lang="en-US"/>
          </a:p>
        </p:txBody>
      </p:sp>
    </p:spTree>
    <p:extLst>
      <p:ext uri="{BB962C8B-B14F-4D97-AF65-F5344CB8AC3E}">
        <p14:creationId xmlns:p14="http://schemas.microsoft.com/office/powerpoint/2010/main" val="798412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D1E873B-D962-14A4-D635-3B7A62EB7174}"/>
              </a:ext>
            </a:extLst>
          </p:cNvPr>
          <p:cNvSpPr>
            <a:spLocks noGrp="1"/>
          </p:cNvSpPr>
          <p:nvPr>
            <p:ph type="dt" sz="half" idx="10"/>
          </p:nvPr>
        </p:nvSpPr>
        <p:spPr/>
        <p:txBody>
          <a:bodyPr/>
          <a:lstStyle/>
          <a:p>
            <a:pPr lvl="0"/>
            <a:endParaRPr lang="en-US"/>
          </a:p>
        </p:txBody>
      </p:sp>
      <p:sp>
        <p:nvSpPr>
          <p:cNvPr id="3" name="Espace réservé du pied de page 2">
            <a:extLst>
              <a:ext uri="{FF2B5EF4-FFF2-40B4-BE49-F238E27FC236}">
                <a16:creationId xmlns:a16="http://schemas.microsoft.com/office/drawing/2014/main" id="{FD4BE2A9-6832-BCC3-05FA-D7457C49E973}"/>
              </a:ext>
            </a:extLst>
          </p:cNvPr>
          <p:cNvSpPr>
            <a:spLocks noGrp="1"/>
          </p:cNvSpPr>
          <p:nvPr>
            <p:ph type="ftr" sz="quarter" idx="11"/>
          </p:nvPr>
        </p:nvSpPr>
        <p:spPr/>
        <p:txBody>
          <a:bodyPr/>
          <a:lstStyle/>
          <a:p>
            <a:pPr lvl="0"/>
            <a:endParaRPr lang="en-US"/>
          </a:p>
        </p:txBody>
      </p:sp>
      <p:sp>
        <p:nvSpPr>
          <p:cNvPr id="4" name="Espace réservé du numéro de diapositive 3">
            <a:extLst>
              <a:ext uri="{FF2B5EF4-FFF2-40B4-BE49-F238E27FC236}">
                <a16:creationId xmlns:a16="http://schemas.microsoft.com/office/drawing/2014/main" id="{7B15A381-1A3D-789B-76DE-82D6EE5BE0A4}"/>
              </a:ext>
            </a:extLst>
          </p:cNvPr>
          <p:cNvSpPr>
            <a:spLocks noGrp="1"/>
          </p:cNvSpPr>
          <p:nvPr>
            <p:ph type="sldNum" sz="quarter" idx="12"/>
          </p:nvPr>
        </p:nvSpPr>
        <p:spPr/>
        <p:txBody>
          <a:bodyPr/>
          <a:lstStyle/>
          <a:p>
            <a:pPr lvl="0"/>
            <a:fld id="{EC8F1722-5C92-44F1-9BB7-A42A9CFF4D50}" type="slidenum">
              <a:t>‹N°›</a:t>
            </a:fld>
            <a:endParaRPr lang="en-US"/>
          </a:p>
        </p:txBody>
      </p:sp>
    </p:spTree>
    <p:extLst>
      <p:ext uri="{BB962C8B-B14F-4D97-AF65-F5344CB8AC3E}">
        <p14:creationId xmlns:p14="http://schemas.microsoft.com/office/powerpoint/2010/main" val="397673718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C8422D-DDA2-D428-BE68-4FF8DFD02FA3}"/>
              </a:ext>
            </a:extLst>
          </p:cNvPr>
          <p:cNvSpPr>
            <a:spLocks noGrp="1"/>
          </p:cNvSpPr>
          <p:nvPr>
            <p:ph type="title"/>
          </p:nvPr>
        </p:nvSpPr>
        <p:spPr>
          <a:xfrm>
            <a:off x="693738" y="377825"/>
            <a:ext cx="3251200" cy="1323975"/>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6023304-4550-5A53-BC85-62816F3EE692}"/>
              </a:ext>
            </a:extLst>
          </p:cNvPr>
          <p:cNvSpPr>
            <a:spLocks noGrp="1"/>
          </p:cNvSpPr>
          <p:nvPr>
            <p:ph idx="1"/>
          </p:nvPr>
        </p:nvSpPr>
        <p:spPr>
          <a:xfrm>
            <a:off x="4286250" y="815975"/>
            <a:ext cx="5102225" cy="40306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2FA5AC6-F45F-9B92-2AEB-F1E977D8AC06}"/>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C9362F-1F77-6209-7238-5C06E8ECB240}"/>
              </a:ext>
            </a:extLst>
          </p:cNvPr>
          <p:cNvSpPr>
            <a:spLocks noGrp="1"/>
          </p:cNvSpPr>
          <p:nvPr>
            <p:ph type="dt" sz="half" idx="10"/>
          </p:nvPr>
        </p:nvSpPr>
        <p:spPr/>
        <p:txBody>
          <a:bodyPr/>
          <a:lstStyle/>
          <a:p>
            <a:pPr lvl="0"/>
            <a:endParaRPr lang="en-US"/>
          </a:p>
        </p:txBody>
      </p:sp>
      <p:sp>
        <p:nvSpPr>
          <p:cNvPr id="6" name="Espace réservé du pied de page 5">
            <a:extLst>
              <a:ext uri="{FF2B5EF4-FFF2-40B4-BE49-F238E27FC236}">
                <a16:creationId xmlns:a16="http://schemas.microsoft.com/office/drawing/2014/main" id="{81FB2F55-AEE7-6BF8-5D09-6E16B45AC12E}"/>
              </a:ext>
            </a:extLst>
          </p:cNvPr>
          <p:cNvSpPr>
            <a:spLocks noGrp="1"/>
          </p:cNvSpPr>
          <p:nvPr>
            <p:ph type="ftr" sz="quarter" idx="11"/>
          </p:nvPr>
        </p:nvSpPr>
        <p:spPr/>
        <p:txBody>
          <a:bodyPr/>
          <a:lstStyle/>
          <a:p>
            <a:pPr lvl="0"/>
            <a:endParaRPr lang="en-US"/>
          </a:p>
        </p:txBody>
      </p:sp>
      <p:sp>
        <p:nvSpPr>
          <p:cNvPr id="7" name="Espace réservé du numéro de diapositive 6">
            <a:extLst>
              <a:ext uri="{FF2B5EF4-FFF2-40B4-BE49-F238E27FC236}">
                <a16:creationId xmlns:a16="http://schemas.microsoft.com/office/drawing/2014/main" id="{E568478B-2A2D-DE54-D2A0-C1F82C728C0C}"/>
              </a:ext>
            </a:extLst>
          </p:cNvPr>
          <p:cNvSpPr>
            <a:spLocks noGrp="1"/>
          </p:cNvSpPr>
          <p:nvPr>
            <p:ph type="sldNum" sz="quarter" idx="12"/>
          </p:nvPr>
        </p:nvSpPr>
        <p:spPr/>
        <p:txBody>
          <a:bodyPr/>
          <a:lstStyle/>
          <a:p>
            <a:pPr lvl="0"/>
            <a:fld id="{98DA19A1-84A8-4DB1-ACFC-D6EA8C2EF24A}" type="slidenum">
              <a:t>‹N°›</a:t>
            </a:fld>
            <a:endParaRPr lang="en-US"/>
          </a:p>
        </p:txBody>
      </p:sp>
    </p:spTree>
    <p:extLst>
      <p:ext uri="{BB962C8B-B14F-4D97-AF65-F5344CB8AC3E}">
        <p14:creationId xmlns:p14="http://schemas.microsoft.com/office/powerpoint/2010/main" val="1353111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F75A12-CD46-EE20-9BAC-2CE1976F262E}"/>
              </a:ext>
            </a:extLst>
          </p:cNvPr>
          <p:cNvSpPr>
            <a:spLocks noGrp="1"/>
          </p:cNvSpPr>
          <p:nvPr>
            <p:ph type="title"/>
          </p:nvPr>
        </p:nvSpPr>
        <p:spPr>
          <a:xfrm>
            <a:off x="693738" y="377825"/>
            <a:ext cx="3251200" cy="1323975"/>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7F96E07B-286D-E8B0-67A3-82DAA3658156}"/>
              </a:ext>
            </a:extLst>
          </p:cNvPr>
          <p:cNvSpPr>
            <a:spLocks noGrp="1"/>
          </p:cNvSpPr>
          <p:nvPr>
            <p:ph type="pic" idx="1"/>
          </p:nvPr>
        </p:nvSpPr>
        <p:spPr>
          <a:xfrm>
            <a:off x="4286250" y="815975"/>
            <a:ext cx="5102225" cy="403066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BE2076A-0095-6C2E-D373-655CB26A63C0}"/>
              </a:ext>
            </a:extLst>
          </p:cNvPr>
          <p:cNvSpPr>
            <a:spLocks noGrp="1"/>
          </p:cNvSpPr>
          <p:nvPr>
            <p:ph type="body" sz="half" idx="2"/>
          </p:nvPr>
        </p:nvSpPr>
        <p:spPr>
          <a:xfrm>
            <a:off x="693738" y="1701800"/>
            <a:ext cx="3251200" cy="3151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C7E4BC0-B6BA-AC1B-561A-AE093628447D}"/>
              </a:ext>
            </a:extLst>
          </p:cNvPr>
          <p:cNvSpPr>
            <a:spLocks noGrp="1"/>
          </p:cNvSpPr>
          <p:nvPr>
            <p:ph type="dt" sz="half" idx="10"/>
          </p:nvPr>
        </p:nvSpPr>
        <p:spPr/>
        <p:txBody>
          <a:bodyPr/>
          <a:lstStyle/>
          <a:p>
            <a:pPr lvl="0"/>
            <a:endParaRPr lang="en-US"/>
          </a:p>
        </p:txBody>
      </p:sp>
      <p:sp>
        <p:nvSpPr>
          <p:cNvPr id="6" name="Espace réservé du pied de page 5">
            <a:extLst>
              <a:ext uri="{FF2B5EF4-FFF2-40B4-BE49-F238E27FC236}">
                <a16:creationId xmlns:a16="http://schemas.microsoft.com/office/drawing/2014/main" id="{CF7A308C-5F82-C2AA-D9CC-ACFE628EA10F}"/>
              </a:ext>
            </a:extLst>
          </p:cNvPr>
          <p:cNvSpPr>
            <a:spLocks noGrp="1"/>
          </p:cNvSpPr>
          <p:nvPr>
            <p:ph type="ftr" sz="quarter" idx="11"/>
          </p:nvPr>
        </p:nvSpPr>
        <p:spPr/>
        <p:txBody>
          <a:bodyPr/>
          <a:lstStyle/>
          <a:p>
            <a:pPr lvl="0"/>
            <a:endParaRPr lang="en-US"/>
          </a:p>
        </p:txBody>
      </p:sp>
      <p:sp>
        <p:nvSpPr>
          <p:cNvPr id="7" name="Espace réservé du numéro de diapositive 6">
            <a:extLst>
              <a:ext uri="{FF2B5EF4-FFF2-40B4-BE49-F238E27FC236}">
                <a16:creationId xmlns:a16="http://schemas.microsoft.com/office/drawing/2014/main" id="{8E45F0C4-35D1-5F23-B0E2-E11A60BB3CEB}"/>
              </a:ext>
            </a:extLst>
          </p:cNvPr>
          <p:cNvSpPr>
            <a:spLocks noGrp="1"/>
          </p:cNvSpPr>
          <p:nvPr>
            <p:ph type="sldNum" sz="quarter" idx="12"/>
          </p:nvPr>
        </p:nvSpPr>
        <p:spPr/>
        <p:txBody>
          <a:bodyPr/>
          <a:lstStyle/>
          <a:p>
            <a:pPr lvl="0"/>
            <a:fld id="{C50DB84F-C86C-4177-8B93-9ED536E00557}" type="slidenum">
              <a:t>‹N°›</a:t>
            </a:fld>
            <a:endParaRPr lang="en-US"/>
          </a:p>
        </p:txBody>
      </p:sp>
    </p:spTree>
    <p:extLst>
      <p:ext uri="{BB962C8B-B14F-4D97-AF65-F5344CB8AC3E}">
        <p14:creationId xmlns:p14="http://schemas.microsoft.com/office/powerpoint/2010/main" val="3777511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D19F47-EB10-3230-4974-4232C14C492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B2F97AD4-FDE2-8E6D-F31B-7950740716F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F972565-B10A-D68E-4112-813C16593304}"/>
              </a:ext>
            </a:extLst>
          </p:cNvPr>
          <p:cNvSpPr>
            <a:spLocks noGrp="1"/>
          </p:cNvSpPr>
          <p:nvPr>
            <p:ph type="dt" sz="half" idx="10"/>
          </p:nvPr>
        </p:nvSpPr>
        <p:spPr/>
        <p:txBody>
          <a:bodyPr/>
          <a:lstStyle/>
          <a:p>
            <a:pPr lvl="0"/>
            <a:endParaRPr lang="en-US"/>
          </a:p>
        </p:txBody>
      </p:sp>
      <p:sp>
        <p:nvSpPr>
          <p:cNvPr id="5" name="Espace réservé du pied de page 4">
            <a:extLst>
              <a:ext uri="{FF2B5EF4-FFF2-40B4-BE49-F238E27FC236}">
                <a16:creationId xmlns:a16="http://schemas.microsoft.com/office/drawing/2014/main" id="{883CE08F-7052-B63C-3E34-274038A3978E}"/>
              </a:ext>
            </a:extLst>
          </p:cNvPr>
          <p:cNvSpPr>
            <a:spLocks noGrp="1"/>
          </p:cNvSpPr>
          <p:nvPr>
            <p:ph type="ftr" sz="quarter" idx="11"/>
          </p:nvPr>
        </p:nvSpPr>
        <p:spPr/>
        <p:txBody>
          <a:bodyPr/>
          <a:lstStyle/>
          <a:p>
            <a:pPr lvl="0"/>
            <a:endParaRPr lang="en-US"/>
          </a:p>
        </p:txBody>
      </p:sp>
      <p:sp>
        <p:nvSpPr>
          <p:cNvPr id="6" name="Espace réservé du numéro de diapositive 5">
            <a:extLst>
              <a:ext uri="{FF2B5EF4-FFF2-40B4-BE49-F238E27FC236}">
                <a16:creationId xmlns:a16="http://schemas.microsoft.com/office/drawing/2014/main" id="{992C744B-8DA4-21AE-3D2B-E2F3AFA50324}"/>
              </a:ext>
            </a:extLst>
          </p:cNvPr>
          <p:cNvSpPr>
            <a:spLocks noGrp="1"/>
          </p:cNvSpPr>
          <p:nvPr>
            <p:ph type="sldNum" sz="quarter" idx="12"/>
          </p:nvPr>
        </p:nvSpPr>
        <p:spPr/>
        <p:txBody>
          <a:bodyPr/>
          <a:lstStyle/>
          <a:p>
            <a:pPr lvl="0"/>
            <a:fld id="{029549B4-4F0E-4817-89F5-A8AADD123A0F}" type="slidenum">
              <a:t>‹N°›</a:t>
            </a:fld>
            <a:endParaRPr lang="en-US"/>
          </a:p>
        </p:txBody>
      </p:sp>
    </p:spTree>
    <p:extLst>
      <p:ext uri="{BB962C8B-B14F-4D97-AF65-F5344CB8AC3E}">
        <p14:creationId xmlns:p14="http://schemas.microsoft.com/office/powerpoint/2010/main" val="379560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382843C-D4B4-BF8A-910E-17D01D5412C7}"/>
              </a:ext>
            </a:extLst>
          </p:cNvPr>
          <p:cNvSpPr>
            <a:spLocks noGrp="1"/>
          </p:cNvSpPr>
          <p:nvPr>
            <p:ph type="title" orient="vert"/>
          </p:nvPr>
        </p:nvSpPr>
        <p:spPr>
          <a:xfrm>
            <a:off x="7308850" y="225425"/>
            <a:ext cx="2266950" cy="43894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38EE6A8C-6792-E17C-D1CA-39C40532E0AA}"/>
              </a:ext>
            </a:extLst>
          </p:cNvPr>
          <p:cNvSpPr>
            <a:spLocks noGrp="1"/>
          </p:cNvSpPr>
          <p:nvPr>
            <p:ph type="body" orient="vert" idx="1"/>
          </p:nvPr>
        </p:nvSpPr>
        <p:spPr>
          <a:xfrm>
            <a:off x="503238" y="225425"/>
            <a:ext cx="6653212" cy="43894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20D3E9-0F77-CE58-0830-37D201FD58AE}"/>
              </a:ext>
            </a:extLst>
          </p:cNvPr>
          <p:cNvSpPr>
            <a:spLocks noGrp="1"/>
          </p:cNvSpPr>
          <p:nvPr>
            <p:ph type="dt" sz="half" idx="10"/>
          </p:nvPr>
        </p:nvSpPr>
        <p:spPr/>
        <p:txBody>
          <a:bodyPr/>
          <a:lstStyle/>
          <a:p>
            <a:pPr lvl="0"/>
            <a:endParaRPr lang="en-US"/>
          </a:p>
        </p:txBody>
      </p:sp>
      <p:sp>
        <p:nvSpPr>
          <p:cNvPr id="5" name="Espace réservé du pied de page 4">
            <a:extLst>
              <a:ext uri="{FF2B5EF4-FFF2-40B4-BE49-F238E27FC236}">
                <a16:creationId xmlns:a16="http://schemas.microsoft.com/office/drawing/2014/main" id="{39C6DEA2-B393-B249-3891-C7F1A79273E0}"/>
              </a:ext>
            </a:extLst>
          </p:cNvPr>
          <p:cNvSpPr>
            <a:spLocks noGrp="1"/>
          </p:cNvSpPr>
          <p:nvPr>
            <p:ph type="ftr" sz="quarter" idx="11"/>
          </p:nvPr>
        </p:nvSpPr>
        <p:spPr/>
        <p:txBody>
          <a:bodyPr/>
          <a:lstStyle/>
          <a:p>
            <a:pPr lvl="0"/>
            <a:endParaRPr lang="en-US"/>
          </a:p>
        </p:txBody>
      </p:sp>
      <p:sp>
        <p:nvSpPr>
          <p:cNvPr id="6" name="Espace réservé du numéro de diapositive 5">
            <a:extLst>
              <a:ext uri="{FF2B5EF4-FFF2-40B4-BE49-F238E27FC236}">
                <a16:creationId xmlns:a16="http://schemas.microsoft.com/office/drawing/2014/main" id="{FB4FDEA4-2F56-84CE-D845-A749E03EAC6C}"/>
              </a:ext>
            </a:extLst>
          </p:cNvPr>
          <p:cNvSpPr>
            <a:spLocks noGrp="1"/>
          </p:cNvSpPr>
          <p:nvPr>
            <p:ph type="sldNum" sz="quarter" idx="12"/>
          </p:nvPr>
        </p:nvSpPr>
        <p:spPr/>
        <p:txBody>
          <a:bodyPr/>
          <a:lstStyle/>
          <a:p>
            <a:pPr lvl="0"/>
            <a:fld id="{4AD81FFD-032D-4A1E-8244-5FC1AB81C500}" type="slidenum">
              <a:t>‹N°›</a:t>
            </a:fld>
            <a:endParaRPr lang="en-US"/>
          </a:p>
        </p:txBody>
      </p:sp>
    </p:spTree>
    <p:extLst>
      <p:ext uri="{BB962C8B-B14F-4D97-AF65-F5344CB8AC3E}">
        <p14:creationId xmlns:p14="http://schemas.microsoft.com/office/powerpoint/2010/main" val="2526509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33D2471-ECE9-E14A-AF78-B96612BEB429}"/>
              </a:ext>
            </a:extLst>
          </p:cNvPr>
          <p:cNvSpPr txBox="1">
            <a:spLocks noGrp="1"/>
          </p:cNvSpPr>
          <p:nvPr>
            <p:ph type="title"/>
          </p:nvPr>
        </p:nvSpPr>
        <p:spPr>
          <a:xfrm>
            <a:off x="503999" y="226080"/>
            <a:ext cx="9071640" cy="946440"/>
          </a:xfrm>
          <a:prstGeom prst="rect">
            <a:avLst/>
          </a:prstGeom>
          <a:noFill/>
          <a:ln>
            <a:noFill/>
          </a:ln>
        </p:spPr>
        <p:txBody>
          <a:bodyPr lIns="0" tIns="0" rIns="0" bIns="0" anchor="ctr"/>
          <a:lstStyle/>
          <a:p>
            <a:endParaRPr lang="en-US"/>
          </a:p>
        </p:txBody>
      </p:sp>
      <p:sp>
        <p:nvSpPr>
          <p:cNvPr id="3" name="Espace réservé du texte 2">
            <a:extLst>
              <a:ext uri="{FF2B5EF4-FFF2-40B4-BE49-F238E27FC236}">
                <a16:creationId xmlns:a16="http://schemas.microsoft.com/office/drawing/2014/main" id="{62F1FF81-ACAD-DABD-97FD-711E5461F936}"/>
              </a:ext>
            </a:extLst>
          </p:cNvPr>
          <p:cNvSpPr txBox="1">
            <a:spLocks noGrp="1"/>
          </p:cNvSpPr>
          <p:nvPr>
            <p:ph type="body" idx="1"/>
          </p:nvPr>
        </p:nvSpPr>
        <p:spPr>
          <a:xfrm>
            <a:off x="503999" y="1326600"/>
            <a:ext cx="9071640" cy="3288239"/>
          </a:xfrm>
          <a:prstGeom prst="rect">
            <a:avLst/>
          </a:prstGeom>
          <a:noFill/>
          <a:ln>
            <a:noFill/>
          </a:ln>
        </p:spPr>
        <p:txBody>
          <a:bodyPr lIns="0" tIns="0" rIns="0" bIns="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7578297D-A3D7-B393-9ED7-7EFDA64DD69C}"/>
              </a:ext>
            </a:extLst>
          </p:cNvPr>
          <p:cNvSpPr txBox="1">
            <a:spLocks noGrp="1"/>
          </p:cNvSpPr>
          <p:nvPr>
            <p:ph type="dt" sz="half" idx="2"/>
          </p:nvPr>
        </p:nvSpPr>
        <p:spPr>
          <a:xfrm>
            <a:off x="503999" y="5165280"/>
            <a:ext cx="2348280" cy="390600"/>
          </a:xfrm>
          <a:prstGeom prst="rect">
            <a:avLst/>
          </a:prstGeom>
          <a:noFill/>
          <a:ln>
            <a:noFill/>
          </a:ln>
        </p:spPr>
        <p:txBody>
          <a:bodyPr vert="horz" lIns="0" tIns="0" rIns="0" bIns="0" anchorCtr="0">
            <a:noAutofit/>
          </a:bodyPr>
          <a:lstStyle>
            <a:lvl1pPr lvl="0" rt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5" name="Espace réservé du pied de page 4">
            <a:extLst>
              <a:ext uri="{FF2B5EF4-FFF2-40B4-BE49-F238E27FC236}">
                <a16:creationId xmlns:a16="http://schemas.microsoft.com/office/drawing/2014/main" id="{2F39567A-327B-D303-86FE-906683EC1186}"/>
              </a:ext>
            </a:extLst>
          </p:cNvPr>
          <p:cNvSpPr txBox="1">
            <a:spLocks noGrp="1"/>
          </p:cNvSpPr>
          <p:nvPr>
            <p:ph type="ftr" sz="quarter" idx="3"/>
          </p:nvPr>
        </p:nvSpPr>
        <p:spPr>
          <a:xfrm>
            <a:off x="3447360" y="5165280"/>
            <a:ext cx="3195000" cy="390600"/>
          </a:xfrm>
          <a:prstGeom prst="rect">
            <a:avLst/>
          </a:prstGeom>
          <a:noFill/>
          <a:ln>
            <a:noFill/>
          </a:ln>
        </p:spPr>
        <p:txBody>
          <a:bodyPr vert="horz" lIns="0" tIns="0" rIns="0" bIns="0" anchorCtr="0">
            <a:noAutofit/>
          </a:bodyPr>
          <a:lstStyle>
            <a:lvl1pPr lvl="0" algn="ctr" rtl="0" hangingPunct="0">
              <a:buNone/>
              <a:tabLst/>
              <a:defRPr lang="en-US" sz="1400" kern="1200">
                <a:latin typeface="Liberation Serif" pitchFamily="18"/>
                <a:ea typeface="DejaVu Sans" pitchFamily="2"/>
                <a:cs typeface="DejaVu Sans" pitchFamily="2"/>
              </a:defRPr>
            </a:lvl1pPr>
          </a:lstStyle>
          <a:p>
            <a:pPr lvl="0"/>
            <a:endParaRPr lang="en-US"/>
          </a:p>
        </p:txBody>
      </p:sp>
      <p:sp>
        <p:nvSpPr>
          <p:cNvPr id="6" name="Espace réservé du numéro de diapositive 5">
            <a:extLst>
              <a:ext uri="{FF2B5EF4-FFF2-40B4-BE49-F238E27FC236}">
                <a16:creationId xmlns:a16="http://schemas.microsoft.com/office/drawing/2014/main" id="{ACF98301-1269-28D3-7764-5D0120681A84}"/>
              </a:ext>
            </a:extLst>
          </p:cNvPr>
          <p:cNvSpPr txBox="1">
            <a:spLocks noGrp="1"/>
          </p:cNvSpPr>
          <p:nvPr>
            <p:ph type="sldNum" sz="quarter" idx="4"/>
          </p:nvPr>
        </p:nvSpPr>
        <p:spPr>
          <a:xfrm>
            <a:off x="7227360" y="5165280"/>
            <a:ext cx="2348280" cy="390600"/>
          </a:xfrm>
          <a:prstGeom prst="rect">
            <a:avLst/>
          </a:prstGeom>
          <a:noFill/>
          <a:ln>
            <a:noFill/>
          </a:ln>
        </p:spPr>
        <p:txBody>
          <a:bodyPr vert="horz" lIns="0" tIns="0" rIns="0" bIns="0" anchorCtr="0">
            <a:noAutofit/>
          </a:bodyPr>
          <a:lstStyle>
            <a:lvl1pPr lvl="0" algn="r" rtl="0" hangingPunct="0">
              <a:buNone/>
              <a:tabLst/>
              <a:defRPr lang="en-US" sz="1400" kern="1200">
                <a:latin typeface="Liberation Serif" pitchFamily="18"/>
                <a:ea typeface="DejaVu Sans" pitchFamily="2"/>
                <a:cs typeface="DejaVu Sans" pitchFamily="2"/>
              </a:defRPr>
            </a:lvl1pPr>
          </a:lstStyle>
          <a:p>
            <a:pPr lvl="0"/>
            <a:fld id="{D9632297-0ABE-4387-95DE-78359C43C8B9}" type="slidenum">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hangingPunct="0">
        <a:tabLst/>
        <a:defRPr lang="en-US" sz="4400" b="0" i="0" u="none" strike="noStrike" kern="1200" cap="none">
          <a:ln>
            <a:noFill/>
          </a:ln>
          <a:highlight>
            <a:scrgbClr r="0" g="0" b="0">
              <a:alpha val="0"/>
            </a:scrgbClr>
          </a:highlight>
          <a:latin typeface="Liberation Sans" pitchFamily="18"/>
        </a:defRPr>
      </a:lvl1pPr>
    </p:titleStyle>
    <p:bodyStyle>
      <a:lvl1pPr hangingPunct="0">
        <a:spcBef>
          <a:spcPts val="1417"/>
        </a:spcBef>
        <a:spcAft>
          <a:spcPts val="0"/>
        </a:spcAft>
        <a:tabLst/>
        <a:defRPr lang="en-US" sz="3200" b="0" i="0" u="none" strike="noStrike" kern="1200" cap="none">
          <a:ln>
            <a:noFill/>
          </a:ln>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nRJbfkO6Ra4"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blogs.oracle.com/java/post/new-java-champion-r%C3%A9mi-forax"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openjdk.org/jeps/515"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spring-projects/spring-framework/releases/tag/v7.0.0-RC1"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spring.io/blog/2025/10/28/modularizing-spring-boot"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jakarta.ee/specifications/persistence/3.2/"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Sous-titre 1">
            <a:extLst>
              <a:ext uri="{FF2B5EF4-FFF2-40B4-BE49-F238E27FC236}">
                <a16:creationId xmlns:a16="http://schemas.microsoft.com/office/drawing/2014/main" id="{80FF5123-4C84-21B9-21C1-5A432761FCAF}"/>
              </a:ext>
            </a:extLst>
          </p:cNvPr>
          <p:cNvSpPr txBox="1">
            <a:spLocks noGrp="1"/>
          </p:cNvSpPr>
          <p:nvPr>
            <p:ph type="subTitle" idx="4294967295"/>
          </p:nvPr>
        </p:nvSpPr>
        <p:spPr>
          <a:xfrm>
            <a:off x="503999" y="226080"/>
            <a:ext cx="9071640" cy="4388400"/>
          </a:xfrm>
        </p:spPr>
        <p:txBody>
          <a:bodyPr vert="horz" anchor="ctr"/>
          <a:lstStyle/>
          <a:p>
            <a:pPr lvl="0" algn="ctr" rtl="0"/>
            <a:r>
              <a:rPr lang="en-US" sz="6000" dirty="0"/>
              <a:t>Java 25</a:t>
            </a:r>
            <a:br>
              <a:rPr lang="en-US" sz="6000" dirty="0"/>
            </a:br>
            <a:br>
              <a:rPr lang="en-US" dirty="0"/>
            </a:br>
            <a:r>
              <a:rPr lang="en-US" dirty="0"/>
              <a:t>Rémi Forax</a:t>
            </a:r>
            <a:br>
              <a:rPr lang="en-US" dirty="0"/>
            </a:br>
            <a:r>
              <a:rPr lang="en-US" dirty="0"/>
              <a:t>Université Gustave Eiffel – September 2025</a:t>
            </a:r>
          </a:p>
          <a:p>
            <a:pPr lvl="0" algn="ctr" rtl="0"/>
            <a:r>
              <a:rPr lang="en-US">
                <a:hlinkClick r:id="rId3"/>
              </a:rPr>
              <a:t>https://www.youtube.com/watch?v=nRJbfkO6Ra4</a:t>
            </a:r>
            <a:r>
              <a:rPr lang="en-US"/>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BAB0-9944-D88B-51F2-8556C41C8188}"/>
            </a:ext>
          </a:extLst>
        </p:cNvPr>
        <p:cNvGrpSpPr/>
        <p:nvPr/>
      </p:nvGrpSpPr>
      <p:grpSpPr>
        <a:xfrm>
          <a:off x="0" y="0"/>
          <a:ext cx="0" cy="0"/>
          <a:chOff x="0" y="0"/>
          <a:chExt cx="0" cy="0"/>
        </a:xfrm>
      </p:grpSpPr>
      <p:sp>
        <p:nvSpPr>
          <p:cNvPr id="2" name="Sous-titre 1">
            <a:extLst>
              <a:ext uri="{FF2B5EF4-FFF2-40B4-BE49-F238E27FC236}">
                <a16:creationId xmlns:a16="http://schemas.microsoft.com/office/drawing/2014/main" id="{DB4D5ECC-21C7-9FEC-8140-D94B8031BC5B}"/>
              </a:ext>
            </a:extLst>
          </p:cNvPr>
          <p:cNvSpPr txBox="1">
            <a:spLocks noGrp="1"/>
          </p:cNvSpPr>
          <p:nvPr>
            <p:ph type="subTitle" idx="4294967295"/>
          </p:nvPr>
        </p:nvSpPr>
        <p:spPr>
          <a:xfrm>
            <a:off x="503999" y="226079"/>
            <a:ext cx="9071640" cy="5132081"/>
          </a:xfrm>
        </p:spPr>
        <p:txBody>
          <a:bodyPr vert="horz" anchor="ctr">
            <a:normAutofit lnSpcReduction="10000"/>
          </a:bodyPr>
          <a:lstStyle/>
          <a:p>
            <a:pPr lvl="0" algn="ctr" rtl="0"/>
            <a:r>
              <a:rPr lang="fr-FR" dirty="0"/>
              <a:t>Rémi </a:t>
            </a:r>
            <a:r>
              <a:rPr lang="fr-FR" dirty="0" err="1"/>
              <a:t>Forax</a:t>
            </a:r>
            <a:r>
              <a:rPr lang="fr-FR" dirty="0"/>
              <a:t> est un contributeur majeur du </a:t>
            </a:r>
            <a:r>
              <a:rPr lang="fr-FR" b="1" dirty="0"/>
              <a:t>JDK (Java </a:t>
            </a:r>
            <a:r>
              <a:rPr lang="fr-FR" b="1" dirty="0" err="1"/>
              <a:t>Development</a:t>
            </a:r>
            <a:r>
              <a:rPr lang="fr-FR" b="1" dirty="0"/>
              <a:t> Kit)</a:t>
            </a:r>
            <a:r>
              <a:rPr lang="fr-FR" dirty="0"/>
              <a:t> et un expert reconnu du </a:t>
            </a:r>
            <a:r>
              <a:rPr lang="fr-FR" b="1" dirty="0"/>
              <a:t>Java Community Process (JCP)</a:t>
            </a:r>
            <a:r>
              <a:rPr lang="fr-FR" dirty="0"/>
              <a:t>. </a:t>
            </a:r>
          </a:p>
          <a:p>
            <a:pPr lvl="0" algn="ctr" rtl="0"/>
            <a:r>
              <a:rPr lang="fr-FR" dirty="0"/>
              <a:t>Il est professeur à l’Université Gustave Eiffel et membre d’</a:t>
            </a:r>
            <a:r>
              <a:rPr lang="fr-FR" dirty="0" err="1"/>
              <a:t>OpenJDK</a:t>
            </a:r>
            <a:r>
              <a:rPr lang="fr-FR" dirty="0"/>
              <a:t>, où il a influencé plusieurs projets structurants du langage et de la machine virtuelle Java.</a:t>
            </a:r>
          </a:p>
          <a:p>
            <a:pPr lvl="0" algn="ctr" rtl="0"/>
            <a:endParaRPr lang="fr-FR" dirty="0"/>
          </a:p>
          <a:p>
            <a:pPr lvl="0" algn="ctr" rtl="0"/>
            <a:r>
              <a:rPr lang="en-US" dirty="0">
                <a:hlinkClick r:id="rId3"/>
              </a:rPr>
              <a:t>https://blogs.oracle.com/java/post/new-java-champion-r%C3%A9mi-forax</a:t>
            </a:r>
            <a:r>
              <a:rPr lang="en-US" dirty="0"/>
              <a:t> </a:t>
            </a:r>
          </a:p>
        </p:txBody>
      </p:sp>
    </p:spTree>
    <p:extLst>
      <p:ext uri="{BB962C8B-B14F-4D97-AF65-F5344CB8AC3E}">
        <p14:creationId xmlns:p14="http://schemas.microsoft.com/office/powerpoint/2010/main" val="3520741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Sous-titre 1">
            <a:extLst>
              <a:ext uri="{FF2B5EF4-FFF2-40B4-BE49-F238E27FC236}">
                <a16:creationId xmlns:a16="http://schemas.microsoft.com/office/drawing/2014/main" id="{80F8CF06-A27C-4EF7-4429-5F05825A4E3C}"/>
              </a:ext>
            </a:extLst>
          </p:cNvPr>
          <p:cNvSpPr txBox="1">
            <a:spLocks noGrp="1"/>
          </p:cNvSpPr>
          <p:nvPr>
            <p:ph type="subTitle" idx="4294967295"/>
          </p:nvPr>
        </p:nvSpPr>
        <p:spPr>
          <a:xfrm>
            <a:off x="503999" y="226080"/>
            <a:ext cx="9071640" cy="4388400"/>
          </a:xfrm>
        </p:spPr>
        <p:txBody>
          <a:bodyPr vert="horz" anchor="ctr"/>
          <a:lstStyle/>
          <a:p>
            <a:pPr lvl="0" algn="ctr" rtl="0"/>
            <a:r>
              <a:rPr lang="en-US" sz="4800"/>
              <a:t>What is Java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AA1D50-527F-EA6F-6942-A89D3ADC7004}"/>
              </a:ext>
            </a:extLst>
          </p:cNvPr>
          <p:cNvSpPr txBox="1">
            <a:spLocks noGrp="1"/>
          </p:cNvSpPr>
          <p:nvPr>
            <p:ph type="title" idx="4294967295"/>
          </p:nvPr>
        </p:nvSpPr>
        <p:spPr/>
        <p:txBody>
          <a:bodyPr vert="horz"/>
          <a:lstStyle/>
          <a:p>
            <a:pPr lvl="0" rtl="0"/>
            <a:r>
              <a:rPr lang="en-US"/>
              <a:t>API backward compatibility</a:t>
            </a:r>
          </a:p>
        </p:txBody>
      </p:sp>
      <p:sp>
        <p:nvSpPr>
          <p:cNvPr id="3" name="Espace réservé du texte 2">
            <a:extLst>
              <a:ext uri="{FF2B5EF4-FFF2-40B4-BE49-F238E27FC236}">
                <a16:creationId xmlns:a16="http://schemas.microsoft.com/office/drawing/2014/main" id="{66CC01A3-4900-6545-08AA-E04F9E03700E}"/>
              </a:ext>
            </a:extLst>
          </p:cNvPr>
          <p:cNvSpPr txBox="1">
            <a:spLocks noGrp="1"/>
          </p:cNvSpPr>
          <p:nvPr>
            <p:ph type="body" idx="4294967295"/>
          </p:nvPr>
        </p:nvSpPr>
        <p:spPr/>
        <p:txBody>
          <a:bodyPr vert="horz">
            <a:normAutofit lnSpcReduction="10000"/>
          </a:bodyPr>
          <a:lstStyle/>
          <a:p>
            <a:pPr lvl="0" rtl="0"/>
            <a:r>
              <a:rPr lang="en-US"/>
              <a:t>Java provides </a:t>
            </a:r>
            <a:r>
              <a:rPr lang="en-US" u="sng"/>
              <a:t>binary</a:t>
            </a:r>
            <a:r>
              <a:rPr lang="en-US"/>
              <a:t> backward compatibility</a:t>
            </a:r>
          </a:p>
          <a:p>
            <a:pPr lvl="1" hangingPunct="0">
              <a:spcBef>
                <a:spcPts val="1417"/>
              </a:spcBef>
              <a:buSzPct val="75000"/>
              <a:buFont typeface="StarSymbol"/>
              <a:buChar char="–"/>
            </a:pPr>
            <a:r>
              <a:rPr lang="en-US" sz="3200">
                <a:highlight>
                  <a:scrgbClr r="0" g="0" b="0">
                    <a:alpha val="0"/>
                  </a:scrgbClr>
                </a:highlight>
                <a:latin typeface="Liberation Sans" pitchFamily="18"/>
              </a:rPr>
              <a:t>Unlike C, C++, Rust, Python, or JS</a:t>
            </a:r>
            <a:br>
              <a:rPr lang="en-US" sz="3200">
                <a:highlight>
                  <a:scrgbClr r="0" g="0" b="0">
                    <a:alpha val="0"/>
                  </a:scrgbClr>
                </a:highlight>
                <a:latin typeface="Liberation Sans" pitchFamily="18"/>
              </a:rPr>
            </a:br>
            <a:endParaRPr lang="en-US" sz="3200">
              <a:highlight>
                <a:scrgbClr r="0" g="0" b="0">
                  <a:alpha val="0"/>
                </a:scrgbClr>
              </a:highlight>
              <a:latin typeface="Liberation Sans" pitchFamily="18"/>
            </a:endParaRPr>
          </a:p>
          <a:p>
            <a:pPr lvl="0" rtl="0"/>
            <a:r>
              <a:rPr lang="en-US"/>
              <a:t>Composition of libraries written with different versions of the language</a:t>
            </a:r>
          </a:p>
          <a:p>
            <a:pPr lvl="1" hangingPunct="0">
              <a:spcBef>
                <a:spcPts val="1417"/>
              </a:spcBef>
              <a:buSzPct val="75000"/>
              <a:buFont typeface="StarSymbol"/>
              <a:buChar char="–"/>
            </a:pPr>
            <a:r>
              <a:rPr lang="en-US" sz="3200">
                <a:highlight>
                  <a:scrgbClr r="0" g="0" b="0">
                    <a:alpha val="0"/>
                  </a:scrgbClr>
                </a:highlight>
                <a:latin typeface="Liberation Sans" pitchFamily="18"/>
              </a:rPr>
              <a:t>No: Python 2 vs Python 3</a:t>
            </a:r>
          </a:p>
          <a:p>
            <a:pPr lvl="1" hangingPunct="0">
              <a:spcBef>
                <a:spcPts val="1417"/>
              </a:spcBef>
              <a:buSzPct val="75000"/>
              <a:buFont typeface="StarSymbol"/>
              <a:buChar char="–"/>
            </a:pPr>
            <a:endParaRPr lang="en-US" sz="3200">
              <a:highlight>
                <a:scrgbClr r="0" g="0" b="0">
                  <a:alpha val="0"/>
                </a:scrgbClr>
              </a:highlight>
              <a:latin typeface="Liberation Sans" pitchFamily="1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14F5CF-B04C-3015-4F47-0FEA11BD40C5}"/>
              </a:ext>
            </a:extLst>
          </p:cNvPr>
          <p:cNvSpPr txBox="1">
            <a:spLocks noGrp="1"/>
          </p:cNvSpPr>
          <p:nvPr>
            <p:ph type="title" idx="4294967295"/>
          </p:nvPr>
        </p:nvSpPr>
        <p:spPr/>
        <p:txBody>
          <a:bodyPr vert="horz"/>
          <a:lstStyle/>
          <a:p>
            <a:pPr lvl="0" rtl="0"/>
            <a:r>
              <a:rPr lang="en-US"/>
              <a:t>Drift toward functional ...</a:t>
            </a:r>
          </a:p>
        </p:txBody>
      </p:sp>
      <p:sp>
        <p:nvSpPr>
          <p:cNvPr id="3" name="ZoneTexte 2">
            <a:extLst>
              <a:ext uri="{FF2B5EF4-FFF2-40B4-BE49-F238E27FC236}">
                <a16:creationId xmlns:a16="http://schemas.microsoft.com/office/drawing/2014/main" id="{DD5D7B59-EC7D-84D5-7DFA-11FDC736C252}"/>
              </a:ext>
            </a:extLst>
          </p:cNvPr>
          <p:cNvSpPr txBox="1"/>
          <p:nvPr/>
        </p:nvSpPr>
        <p:spPr>
          <a:xfrm>
            <a:off x="1202400" y="1326600"/>
            <a:ext cx="3839760"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Immutable atoms (String, Integer ...)</a:t>
            </a:r>
          </a:p>
        </p:txBody>
      </p:sp>
      <p:sp>
        <p:nvSpPr>
          <p:cNvPr id="4" name="ZoneTexte 3">
            <a:extLst>
              <a:ext uri="{FF2B5EF4-FFF2-40B4-BE49-F238E27FC236}">
                <a16:creationId xmlns:a16="http://schemas.microsoft.com/office/drawing/2014/main" id="{5986DC58-D60F-979D-C76B-238694CC7C12}"/>
              </a:ext>
            </a:extLst>
          </p:cNvPr>
          <p:cNvSpPr txBox="1"/>
          <p:nvPr/>
        </p:nvSpPr>
        <p:spPr>
          <a:xfrm>
            <a:off x="1202400" y="1830960"/>
            <a:ext cx="1502280"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java.util.Date</a:t>
            </a:r>
          </a:p>
        </p:txBody>
      </p:sp>
      <p:sp>
        <p:nvSpPr>
          <p:cNvPr id="5" name="ZoneTexte 4">
            <a:extLst>
              <a:ext uri="{FF2B5EF4-FFF2-40B4-BE49-F238E27FC236}">
                <a16:creationId xmlns:a16="http://schemas.microsoft.com/office/drawing/2014/main" id="{32967A51-C815-1F9E-4B61-DFEACCF36160}"/>
              </a:ext>
            </a:extLst>
          </p:cNvPr>
          <p:cNvSpPr txBox="1"/>
          <p:nvPr/>
        </p:nvSpPr>
        <p:spPr>
          <a:xfrm>
            <a:off x="5509800" y="1830960"/>
            <a:ext cx="1247760"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java.time.*</a:t>
            </a:r>
          </a:p>
        </p:txBody>
      </p:sp>
      <p:sp>
        <p:nvSpPr>
          <p:cNvPr id="6" name="ZoneTexte 5">
            <a:extLst>
              <a:ext uri="{FF2B5EF4-FFF2-40B4-BE49-F238E27FC236}">
                <a16:creationId xmlns:a16="http://schemas.microsoft.com/office/drawing/2014/main" id="{9D85DEF3-BFF6-067C-ADDB-56AB83F7C79C}"/>
              </a:ext>
            </a:extLst>
          </p:cNvPr>
          <p:cNvSpPr txBox="1"/>
          <p:nvPr/>
        </p:nvSpPr>
        <p:spPr>
          <a:xfrm>
            <a:off x="1202400" y="2768400"/>
            <a:ext cx="752400"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class</a:t>
            </a:r>
          </a:p>
        </p:txBody>
      </p:sp>
      <p:sp>
        <p:nvSpPr>
          <p:cNvPr id="7" name="ZoneTexte 6">
            <a:extLst>
              <a:ext uri="{FF2B5EF4-FFF2-40B4-BE49-F238E27FC236}">
                <a16:creationId xmlns:a16="http://schemas.microsoft.com/office/drawing/2014/main" id="{5A1AAA94-BF57-A97E-4A35-7FC041A47B5D}"/>
              </a:ext>
            </a:extLst>
          </p:cNvPr>
          <p:cNvSpPr txBox="1"/>
          <p:nvPr/>
        </p:nvSpPr>
        <p:spPr>
          <a:xfrm>
            <a:off x="5509800" y="2768400"/>
            <a:ext cx="917640"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record</a:t>
            </a:r>
          </a:p>
        </p:txBody>
      </p:sp>
      <p:sp>
        <p:nvSpPr>
          <p:cNvPr id="8" name="ZoneTexte 7">
            <a:extLst>
              <a:ext uri="{FF2B5EF4-FFF2-40B4-BE49-F238E27FC236}">
                <a16:creationId xmlns:a16="http://schemas.microsoft.com/office/drawing/2014/main" id="{A503AC0A-8A46-40CC-9042-9E4EEE9D72D1}"/>
              </a:ext>
            </a:extLst>
          </p:cNvPr>
          <p:cNvSpPr txBox="1"/>
          <p:nvPr/>
        </p:nvSpPr>
        <p:spPr>
          <a:xfrm>
            <a:off x="1202400" y="3416400"/>
            <a:ext cx="803519"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loops</a:t>
            </a:r>
          </a:p>
        </p:txBody>
      </p:sp>
      <p:sp>
        <p:nvSpPr>
          <p:cNvPr id="9" name="ZoneTexte 8">
            <a:extLst>
              <a:ext uri="{FF2B5EF4-FFF2-40B4-BE49-F238E27FC236}">
                <a16:creationId xmlns:a16="http://schemas.microsoft.com/office/drawing/2014/main" id="{87B5002D-A82D-145D-D812-0BDA5B90D155}"/>
              </a:ext>
            </a:extLst>
          </p:cNvPr>
          <p:cNvSpPr txBox="1"/>
          <p:nvPr/>
        </p:nvSpPr>
        <p:spPr>
          <a:xfrm>
            <a:off x="5509800" y="3416400"/>
            <a:ext cx="1031759"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streams</a:t>
            </a:r>
          </a:p>
        </p:txBody>
      </p:sp>
      <p:sp>
        <p:nvSpPr>
          <p:cNvPr id="10" name="ZoneTexte 9">
            <a:extLst>
              <a:ext uri="{FF2B5EF4-FFF2-40B4-BE49-F238E27FC236}">
                <a16:creationId xmlns:a16="http://schemas.microsoft.com/office/drawing/2014/main" id="{1EC629A6-49CF-6886-774B-F2C1D8AA8BE2}"/>
              </a:ext>
            </a:extLst>
          </p:cNvPr>
          <p:cNvSpPr txBox="1"/>
          <p:nvPr/>
        </p:nvSpPr>
        <p:spPr>
          <a:xfrm>
            <a:off x="1202400" y="3992400"/>
            <a:ext cx="1628999" cy="60228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Inheritance</a:t>
            </a:r>
            <a:br>
              <a:rPr lang="en-US" sz="1800" b="0" i="0" u="none" strike="noStrike" kern="1200" cap="none">
                <a:ln>
                  <a:noFill/>
                </a:ln>
                <a:latin typeface="Liberation Sans" pitchFamily="18"/>
                <a:ea typeface="Source Han Sans CN" pitchFamily="2"/>
                <a:cs typeface="Lohit Devanagari" pitchFamily="2"/>
              </a:rPr>
            </a:br>
            <a:r>
              <a:rPr lang="en-US" sz="1800" b="0" i="0" u="none" strike="noStrike" kern="1200" cap="none">
                <a:ln>
                  <a:noFill/>
                </a:ln>
                <a:latin typeface="Liberation Sans" pitchFamily="18"/>
                <a:ea typeface="Source Han Sans CN" pitchFamily="2"/>
                <a:cs typeface="Lohit Devanagari" pitchFamily="2"/>
              </a:rPr>
              <a:t>Polymorphism</a:t>
            </a:r>
          </a:p>
        </p:txBody>
      </p:sp>
      <p:sp>
        <p:nvSpPr>
          <p:cNvPr id="11" name="ZoneTexte 10">
            <a:extLst>
              <a:ext uri="{FF2B5EF4-FFF2-40B4-BE49-F238E27FC236}">
                <a16:creationId xmlns:a16="http://schemas.microsoft.com/office/drawing/2014/main" id="{284F61B7-7A24-03F5-D3EB-5E9880FF3AAE}"/>
              </a:ext>
            </a:extLst>
          </p:cNvPr>
          <p:cNvSpPr txBox="1"/>
          <p:nvPr/>
        </p:nvSpPr>
        <p:spPr>
          <a:xfrm>
            <a:off x="5509800" y="3992400"/>
            <a:ext cx="1908719" cy="60228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PingFang SC" pitchFamily="2"/>
                <a:cs typeface="Arial Unicode MS" pitchFamily="2"/>
              </a:rPr>
              <a:t>Sealed Interface</a:t>
            </a:r>
            <a:br>
              <a:rPr lang="en-US" sz="1800" b="0" i="0" u="none" strike="noStrike" kern="1200" cap="none">
                <a:ln>
                  <a:noFill/>
                </a:ln>
                <a:latin typeface="Liberation Sans" pitchFamily="18"/>
                <a:ea typeface="PingFang SC" pitchFamily="2"/>
                <a:cs typeface="Arial Unicode MS" pitchFamily="2"/>
              </a:rPr>
            </a:br>
            <a:r>
              <a:rPr lang="en-US" sz="1800" b="0" i="0" u="none" strike="noStrike" kern="1200" cap="none">
                <a:ln>
                  <a:noFill/>
                </a:ln>
                <a:latin typeface="Liberation Sans" pitchFamily="18"/>
                <a:ea typeface="PingFang SC" pitchFamily="2"/>
                <a:cs typeface="Arial Unicode MS" pitchFamily="2"/>
              </a:rPr>
              <a:t>Pattern Matching</a:t>
            </a:r>
          </a:p>
        </p:txBody>
      </p:sp>
      <p:sp>
        <p:nvSpPr>
          <p:cNvPr id="12" name="ZoneTexte 11">
            <a:extLst>
              <a:ext uri="{FF2B5EF4-FFF2-40B4-BE49-F238E27FC236}">
                <a16:creationId xmlns:a16="http://schemas.microsoft.com/office/drawing/2014/main" id="{404B1E95-53CA-1622-2285-5A818611623E}"/>
              </a:ext>
            </a:extLst>
          </p:cNvPr>
          <p:cNvSpPr txBox="1"/>
          <p:nvPr/>
        </p:nvSpPr>
        <p:spPr>
          <a:xfrm>
            <a:off x="5509800" y="3056400"/>
            <a:ext cx="1332720"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value class</a:t>
            </a:r>
          </a:p>
        </p:txBody>
      </p:sp>
      <p:cxnSp>
        <p:nvCxnSpPr>
          <p:cNvPr id="13" name="Connecteur droit avec flèche 12">
            <a:extLst>
              <a:ext uri="{FF2B5EF4-FFF2-40B4-BE49-F238E27FC236}">
                <a16:creationId xmlns:a16="http://schemas.microsoft.com/office/drawing/2014/main" id="{F1104466-7CA2-15B5-8DDE-E248D4CFCB86}"/>
              </a:ext>
            </a:extLst>
          </p:cNvPr>
          <p:cNvCxnSpPr>
            <a:stCxn id="4" idx="3"/>
          </p:cNvCxnSpPr>
          <p:nvPr/>
        </p:nvCxnSpPr>
        <p:spPr>
          <a:xfrm>
            <a:off x="2704680" y="2004119"/>
            <a:ext cx="2805120" cy="0"/>
          </a:xfrm>
          <a:prstGeom prst="straightConnector1">
            <a:avLst/>
          </a:prstGeom>
          <a:noFill/>
          <a:ln w="0">
            <a:solidFill>
              <a:srgbClr val="3465A4"/>
            </a:solidFill>
            <a:prstDash val="solid"/>
            <a:tailEnd type="arrow"/>
          </a:ln>
        </p:spPr>
      </p:cxnSp>
      <p:cxnSp>
        <p:nvCxnSpPr>
          <p:cNvPr id="14" name="Connecteur droit avec flèche 13">
            <a:extLst>
              <a:ext uri="{FF2B5EF4-FFF2-40B4-BE49-F238E27FC236}">
                <a16:creationId xmlns:a16="http://schemas.microsoft.com/office/drawing/2014/main" id="{388C3CF4-CD27-BE46-1D92-2B1D12F692F9}"/>
              </a:ext>
            </a:extLst>
          </p:cNvPr>
          <p:cNvCxnSpPr>
            <a:stCxn id="6" idx="3"/>
          </p:cNvCxnSpPr>
          <p:nvPr/>
        </p:nvCxnSpPr>
        <p:spPr>
          <a:xfrm>
            <a:off x="1954800" y="2941560"/>
            <a:ext cx="3555000" cy="0"/>
          </a:xfrm>
          <a:prstGeom prst="straightConnector1">
            <a:avLst/>
          </a:prstGeom>
          <a:noFill/>
          <a:ln w="0">
            <a:solidFill>
              <a:srgbClr val="3465A4"/>
            </a:solidFill>
            <a:prstDash val="solid"/>
            <a:tailEnd type="arrow"/>
          </a:ln>
        </p:spPr>
      </p:cxnSp>
      <p:cxnSp>
        <p:nvCxnSpPr>
          <p:cNvPr id="15" name="Connecteur droit avec flèche 14">
            <a:extLst>
              <a:ext uri="{FF2B5EF4-FFF2-40B4-BE49-F238E27FC236}">
                <a16:creationId xmlns:a16="http://schemas.microsoft.com/office/drawing/2014/main" id="{8B653E28-03B9-5298-6C3F-365E0FC9424D}"/>
              </a:ext>
            </a:extLst>
          </p:cNvPr>
          <p:cNvCxnSpPr>
            <a:stCxn id="8" idx="3"/>
          </p:cNvCxnSpPr>
          <p:nvPr/>
        </p:nvCxnSpPr>
        <p:spPr>
          <a:xfrm>
            <a:off x="2005920" y="3589560"/>
            <a:ext cx="3503880" cy="0"/>
          </a:xfrm>
          <a:prstGeom prst="straightConnector1">
            <a:avLst/>
          </a:prstGeom>
          <a:noFill/>
          <a:ln w="0">
            <a:solidFill>
              <a:srgbClr val="3465A4"/>
            </a:solidFill>
            <a:prstDash val="solid"/>
            <a:tailEnd type="arrow"/>
          </a:ln>
        </p:spPr>
      </p:cxnSp>
      <p:cxnSp>
        <p:nvCxnSpPr>
          <p:cNvPr id="16" name="Connecteur droit avec flèche 15">
            <a:extLst>
              <a:ext uri="{FF2B5EF4-FFF2-40B4-BE49-F238E27FC236}">
                <a16:creationId xmlns:a16="http://schemas.microsoft.com/office/drawing/2014/main" id="{4EC40A86-54FD-9A29-74A3-7AC3B5FF807F}"/>
              </a:ext>
            </a:extLst>
          </p:cNvPr>
          <p:cNvCxnSpPr>
            <a:stCxn id="10" idx="3"/>
            <a:endCxn id="11" idx="1"/>
          </p:cNvCxnSpPr>
          <p:nvPr/>
        </p:nvCxnSpPr>
        <p:spPr>
          <a:xfrm>
            <a:off x="2831399" y="4293540"/>
            <a:ext cx="2678401" cy="0"/>
          </a:xfrm>
          <a:prstGeom prst="straightConnector1">
            <a:avLst/>
          </a:prstGeom>
          <a:noFill/>
          <a:ln w="0">
            <a:solidFill>
              <a:srgbClr val="3465A4"/>
            </a:solidFill>
            <a:prstDash val="solid"/>
            <a:tailEnd type="arrow"/>
          </a:ln>
        </p:spPr>
      </p:cxnSp>
      <p:cxnSp>
        <p:nvCxnSpPr>
          <p:cNvPr id="17" name="Connecteur droit avec flèche 16">
            <a:extLst>
              <a:ext uri="{FF2B5EF4-FFF2-40B4-BE49-F238E27FC236}">
                <a16:creationId xmlns:a16="http://schemas.microsoft.com/office/drawing/2014/main" id="{864E1FE1-A031-2F8A-822A-4527D984EE28}"/>
              </a:ext>
            </a:extLst>
          </p:cNvPr>
          <p:cNvCxnSpPr>
            <a:stCxn id="6" idx="3"/>
            <a:endCxn id="12" idx="1"/>
          </p:cNvCxnSpPr>
          <p:nvPr/>
        </p:nvCxnSpPr>
        <p:spPr>
          <a:xfrm>
            <a:off x="1954800" y="2941560"/>
            <a:ext cx="3555000" cy="288000"/>
          </a:xfrm>
          <a:prstGeom prst="straightConnector1">
            <a:avLst/>
          </a:prstGeom>
          <a:noFill/>
          <a:ln w="0">
            <a:solidFill>
              <a:srgbClr val="3465A4"/>
            </a:solidFill>
            <a:prstDash val="solid"/>
            <a:tailEnd type="arrow"/>
          </a:ln>
        </p:spPr>
      </p:cxnSp>
      <p:sp>
        <p:nvSpPr>
          <p:cNvPr id="18" name="ZoneTexte 17">
            <a:extLst>
              <a:ext uri="{FF2B5EF4-FFF2-40B4-BE49-F238E27FC236}">
                <a16:creationId xmlns:a16="http://schemas.microsoft.com/office/drawing/2014/main" id="{03B4528A-0DD4-6A24-E108-D61226E5C5E5}"/>
              </a:ext>
            </a:extLst>
          </p:cNvPr>
          <p:cNvSpPr txBox="1"/>
          <p:nvPr/>
        </p:nvSpPr>
        <p:spPr>
          <a:xfrm>
            <a:off x="1202400" y="2300400"/>
            <a:ext cx="1298880"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Collections</a:t>
            </a:r>
          </a:p>
        </p:txBody>
      </p:sp>
      <p:sp>
        <p:nvSpPr>
          <p:cNvPr id="19" name="ZoneTexte 18">
            <a:extLst>
              <a:ext uri="{FF2B5EF4-FFF2-40B4-BE49-F238E27FC236}">
                <a16:creationId xmlns:a16="http://schemas.microsoft.com/office/drawing/2014/main" id="{CCF579FC-826B-9BA8-5C4D-1DC645D7C0F2}"/>
              </a:ext>
            </a:extLst>
          </p:cNvPr>
          <p:cNvSpPr txBox="1"/>
          <p:nvPr/>
        </p:nvSpPr>
        <p:spPr>
          <a:xfrm>
            <a:off x="5509800" y="2300400"/>
            <a:ext cx="2797560"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List.of(), Set.of(), Map.of()</a:t>
            </a:r>
          </a:p>
        </p:txBody>
      </p:sp>
      <p:cxnSp>
        <p:nvCxnSpPr>
          <p:cNvPr id="20" name="Connecteur droit avec flèche 19">
            <a:extLst>
              <a:ext uri="{FF2B5EF4-FFF2-40B4-BE49-F238E27FC236}">
                <a16:creationId xmlns:a16="http://schemas.microsoft.com/office/drawing/2014/main" id="{EE5C2C75-F474-CE45-54F4-9A016298EB85}"/>
              </a:ext>
            </a:extLst>
          </p:cNvPr>
          <p:cNvCxnSpPr>
            <a:stCxn id="18" idx="3"/>
          </p:cNvCxnSpPr>
          <p:nvPr/>
        </p:nvCxnSpPr>
        <p:spPr>
          <a:xfrm>
            <a:off x="2501280" y="2473560"/>
            <a:ext cx="3008520" cy="0"/>
          </a:xfrm>
          <a:prstGeom prst="straightConnector1">
            <a:avLst/>
          </a:prstGeom>
          <a:noFill/>
          <a:ln w="0">
            <a:solidFill>
              <a:srgbClr val="3465A4"/>
            </a:solidFill>
            <a:prstDash val="solid"/>
            <a:tailEnd type="arrow"/>
          </a:ln>
        </p:spPr>
      </p:cxnSp>
      <p:sp>
        <p:nvSpPr>
          <p:cNvPr id="21" name="ZoneTexte 20">
            <a:extLst>
              <a:ext uri="{FF2B5EF4-FFF2-40B4-BE49-F238E27FC236}">
                <a16:creationId xmlns:a16="http://schemas.microsoft.com/office/drawing/2014/main" id="{5ECD294B-9E01-BC45-7BE1-608527A00580}"/>
              </a:ext>
            </a:extLst>
          </p:cNvPr>
          <p:cNvSpPr txBox="1"/>
          <p:nvPr/>
        </p:nvSpPr>
        <p:spPr>
          <a:xfrm>
            <a:off x="1818000" y="5077800"/>
            <a:ext cx="2157840"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MUTABLE WORLD</a:t>
            </a:r>
          </a:p>
        </p:txBody>
      </p:sp>
      <p:sp>
        <p:nvSpPr>
          <p:cNvPr id="22" name="ZoneTexte 21">
            <a:extLst>
              <a:ext uri="{FF2B5EF4-FFF2-40B4-BE49-F238E27FC236}">
                <a16:creationId xmlns:a16="http://schemas.microsoft.com/office/drawing/2014/main" id="{F18D27D2-2F64-B432-2751-A126BCC200F0}"/>
              </a:ext>
            </a:extLst>
          </p:cNvPr>
          <p:cNvSpPr txBox="1"/>
          <p:nvPr/>
        </p:nvSpPr>
        <p:spPr>
          <a:xfrm>
            <a:off x="5850000" y="5077800"/>
            <a:ext cx="2411640"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pPr>
            <a:r>
              <a:rPr lang="en-US" sz="1800" b="0" i="0" u="none" strike="noStrike" kern="1200" cap="none">
                <a:ln>
                  <a:noFill/>
                </a:ln>
                <a:latin typeface="Liberation Sans" pitchFamily="18"/>
                <a:ea typeface="Source Han Sans CN" pitchFamily="2"/>
                <a:cs typeface="Lohit Devanagari" pitchFamily="2"/>
              </a:rPr>
              <a:t>IMMUTABLE WORLD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Class="entr"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Class="entr"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Class="entr"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Class="entr"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Class="entr"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Class="entr"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Class="entr"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Class="entr"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Class="entr"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3817E4-D039-5749-2987-4A7A4FED2350}"/>
              </a:ext>
            </a:extLst>
          </p:cNvPr>
          <p:cNvSpPr txBox="1">
            <a:spLocks noGrp="1"/>
          </p:cNvSpPr>
          <p:nvPr>
            <p:ph type="title" idx="4294967295"/>
          </p:nvPr>
        </p:nvSpPr>
        <p:spPr/>
        <p:txBody>
          <a:bodyPr vert="horz"/>
          <a:lstStyle/>
          <a:p>
            <a:pPr lvl="0" rtl="0"/>
            <a:r>
              <a:rPr lang="en-US"/>
              <a:t>Don’t of Java</a:t>
            </a:r>
          </a:p>
        </p:txBody>
      </p:sp>
      <p:sp>
        <p:nvSpPr>
          <p:cNvPr id="3" name="Espace réservé du texte 2">
            <a:extLst>
              <a:ext uri="{FF2B5EF4-FFF2-40B4-BE49-F238E27FC236}">
                <a16:creationId xmlns:a16="http://schemas.microsoft.com/office/drawing/2014/main" id="{2224F64D-F445-AD2A-6225-A7C8868DA43C}"/>
              </a:ext>
            </a:extLst>
          </p:cNvPr>
          <p:cNvSpPr txBox="1">
            <a:spLocks noGrp="1"/>
          </p:cNvSpPr>
          <p:nvPr>
            <p:ph type="body" idx="4294967295"/>
          </p:nvPr>
        </p:nvSpPr>
        <p:spPr/>
        <p:txBody>
          <a:bodyPr vert="horz">
            <a:normAutofit fontScale="92500" lnSpcReduction="10000"/>
          </a:bodyPr>
          <a:lstStyle/>
          <a:p>
            <a:pPr lvl="0" rtl="0"/>
            <a:r>
              <a:rPr lang="en-US"/>
              <a:t>Clash with the composition at scale</a:t>
            </a:r>
          </a:p>
          <a:p>
            <a:pPr lvl="0" rtl="0"/>
            <a:r>
              <a:rPr lang="en-US"/>
              <a:t>Cases of function coloring*</a:t>
            </a:r>
          </a:p>
          <a:p>
            <a:pPr lvl="1" hangingPunct="0">
              <a:spcBef>
                <a:spcPts val="1417"/>
              </a:spcBef>
              <a:buSzPct val="75000"/>
              <a:buFont typeface="StarSymbol"/>
              <a:buChar char="–"/>
            </a:pPr>
            <a:r>
              <a:rPr lang="en-US" sz="3200">
                <a:highlight>
                  <a:scrgbClr r="0" g="0" b="0">
                    <a:alpha val="0"/>
                  </a:scrgbClr>
                </a:highlight>
                <a:latin typeface="Liberation Sans" pitchFamily="18"/>
              </a:rPr>
              <a:t>Rust lifetime attributes </a:t>
            </a:r>
            <a:r>
              <a:rPr lang="en-US">
                <a:highlight>
                  <a:scrgbClr r="0" g="0" b="0">
                    <a:alpha val="0"/>
                  </a:scrgbClr>
                </a:highlight>
                <a:latin typeface="Liberation Sans" pitchFamily="18"/>
              </a:rPr>
              <a:t>(we have GCs)</a:t>
            </a:r>
          </a:p>
          <a:p>
            <a:pPr lvl="1" hangingPunct="0">
              <a:spcBef>
                <a:spcPts val="1417"/>
              </a:spcBef>
              <a:buSzPct val="75000"/>
              <a:buFont typeface="StarSymbol"/>
              <a:buChar char="–"/>
            </a:pPr>
            <a:r>
              <a:rPr lang="en-US" sz="3200">
                <a:highlight>
                  <a:scrgbClr r="0" g="0" b="0">
                    <a:alpha val="0"/>
                  </a:scrgbClr>
                </a:highlight>
                <a:latin typeface="Liberation Sans" pitchFamily="18"/>
              </a:rPr>
              <a:t>Async/Reactive methods </a:t>
            </a:r>
            <a:r>
              <a:rPr lang="en-US">
                <a:highlight>
                  <a:scrgbClr r="0" g="0" b="0">
                    <a:alpha val="0"/>
                  </a:scrgbClr>
                </a:highlight>
                <a:latin typeface="Liberation Sans" pitchFamily="18"/>
              </a:rPr>
              <a:t>(we have virtual threads)</a:t>
            </a:r>
          </a:p>
          <a:p>
            <a:pPr lvl="1" hangingPunct="0">
              <a:spcBef>
                <a:spcPts val="1417"/>
              </a:spcBef>
              <a:buSzPct val="75000"/>
              <a:buFont typeface="StarSymbol"/>
              <a:buChar char="–"/>
            </a:pPr>
            <a:r>
              <a:rPr lang="en-US" sz="3200">
                <a:highlight>
                  <a:scrgbClr r="0" g="0" b="0">
                    <a:alpha val="0"/>
                  </a:scrgbClr>
                </a:highlight>
                <a:latin typeface="Liberation Sans" pitchFamily="18"/>
              </a:rPr>
              <a:t>Use class/type for errors</a:t>
            </a:r>
            <a:r>
              <a:rPr lang="en-US">
                <a:highlight>
                  <a:scrgbClr r="0" g="0" b="0">
                    <a:alpha val="0"/>
                  </a:scrgbClr>
                </a:highlight>
                <a:latin typeface="Liberation Sans" pitchFamily="18"/>
              </a:rPr>
              <a:t> (we have exceptions)</a:t>
            </a:r>
          </a:p>
          <a:p>
            <a:pPr lvl="2" hangingPunct="0">
              <a:spcBef>
                <a:spcPts val="1417"/>
              </a:spcBef>
              <a:buNone/>
            </a:pPr>
            <a:r>
              <a:rPr lang="en-US" sz="3200">
                <a:highlight>
                  <a:scrgbClr r="0" g="0" b="0">
                    <a:alpha val="0"/>
                  </a:scrgbClr>
                </a:highlight>
                <a:latin typeface="Liberation Sans" pitchFamily="18"/>
              </a:rPr>
              <a:t>I know checked exceptions are bad </a:t>
            </a:r>
            <a:r>
              <a:rPr lang="en-US" sz="2400">
                <a:highlight>
                  <a:scrgbClr r="0" g="0" b="0">
                    <a:alpha val="0"/>
                  </a:scrgbClr>
                </a:highlight>
                <a:latin typeface="Liberation Sans" pitchFamily="18"/>
              </a:rPr>
              <a:t>:(</a:t>
            </a:r>
          </a:p>
        </p:txBody>
      </p:sp>
      <p:sp>
        <p:nvSpPr>
          <p:cNvPr id="4" name="ZoneTexte 3">
            <a:extLst>
              <a:ext uri="{FF2B5EF4-FFF2-40B4-BE49-F238E27FC236}">
                <a16:creationId xmlns:a16="http://schemas.microsoft.com/office/drawing/2014/main" id="{E45BDD34-1EB7-9648-3A23-6F2716EEA1D9}"/>
              </a:ext>
            </a:extLst>
          </p:cNvPr>
          <p:cNvSpPr txBox="1"/>
          <p:nvPr/>
        </p:nvSpPr>
        <p:spPr>
          <a:xfrm>
            <a:off x="1285200" y="5149800"/>
            <a:ext cx="7554599" cy="346320"/>
          </a:xfrm>
          <a:prstGeom prst="rect">
            <a:avLst/>
          </a:prstGeom>
          <a:noFill/>
          <a:ln>
            <a:noFill/>
          </a:ln>
        </p:spPr>
        <p:txBody>
          <a:bodyPr vert="horz" wrap="none" lIns="90000" tIns="45000" rIns="90000" bIns="45000" anchorCtr="0" compatLnSpc="0">
            <a:spAutoFit/>
          </a:bodyPr>
          <a:lstStyle/>
          <a:p>
            <a:pPr marL="0" marR="0" lvl="0" indent="0" rtl="0" hangingPunct="0">
              <a:lnSpc>
                <a:spcPct val="100000"/>
              </a:lnSpc>
              <a:spcBef>
                <a:spcPts val="0"/>
              </a:spcBef>
              <a:spcAft>
                <a:spcPts val="0"/>
              </a:spcAft>
              <a:buNone/>
              <a:tabLst/>
              <a:defRPr sz="1800"/>
            </a:pPr>
            <a:r>
              <a:rPr lang="en-US" sz="1800" b="0" i="0" u="none" strike="noStrike" kern="1200" cap="none">
                <a:ln>
                  <a:noFill/>
                </a:ln>
                <a:latin typeface="Liberation Sans" pitchFamily="18"/>
                <a:ea typeface="Source Han Sans CN" pitchFamily="2"/>
                <a:cs typeface="Lohit Devanagari" pitchFamily="2"/>
              </a:rPr>
              <a:t>* https://journal.stuffwithstuff.com/2015/02/01/what-color-is-your-function/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Class="entr"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Class="entr"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sp>
        <p:nvSpPr>
          <p:cNvPr id="2" name="Sous-titre 1">
            <a:extLst>
              <a:ext uri="{FF2B5EF4-FFF2-40B4-BE49-F238E27FC236}">
                <a16:creationId xmlns:a16="http://schemas.microsoft.com/office/drawing/2014/main" id="{8BE66845-999F-CBE7-3833-44DF6B5C49C0}"/>
              </a:ext>
            </a:extLst>
          </p:cNvPr>
          <p:cNvSpPr txBox="1">
            <a:spLocks noGrp="1"/>
          </p:cNvSpPr>
          <p:nvPr>
            <p:ph type="subTitle" idx="4294967295"/>
          </p:nvPr>
        </p:nvSpPr>
        <p:spPr>
          <a:xfrm>
            <a:off x="503999" y="226080"/>
            <a:ext cx="9071640" cy="4388400"/>
          </a:xfrm>
        </p:spPr>
        <p:txBody>
          <a:bodyPr vert="horz" anchor="ctr"/>
          <a:lstStyle/>
          <a:p>
            <a:pPr lvl="0" algn="ctr" rtl="0"/>
            <a:r>
              <a:rPr lang="en-US" sz="4800"/>
              <a:t>What’s new in Java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500E40-230A-55EA-6FB5-8728A6788F56}"/>
              </a:ext>
            </a:extLst>
          </p:cNvPr>
          <p:cNvSpPr txBox="1">
            <a:spLocks noGrp="1"/>
          </p:cNvSpPr>
          <p:nvPr>
            <p:ph type="title" idx="4294967295"/>
          </p:nvPr>
        </p:nvSpPr>
        <p:spPr/>
        <p:txBody>
          <a:bodyPr vert="horz"/>
          <a:lstStyle/>
          <a:p>
            <a:pPr lvl="0" rtl="0"/>
            <a:r>
              <a:rPr lang="en-US"/>
              <a:t>Java 21 → Java 25</a:t>
            </a:r>
          </a:p>
        </p:txBody>
      </p:sp>
      <p:sp>
        <p:nvSpPr>
          <p:cNvPr id="3" name="Espace réservé du texte 2">
            <a:extLst>
              <a:ext uri="{FF2B5EF4-FFF2-40B4-BE49-F238E27FC236}">
                <a16:creationId xmlns:a16="http://schemas.microsoft.com/office/drawing/2014/main" id="{C33E838C-F27A-F2B1-4D14-222BEED1DD41}"/>
              </a:ext>
            </a:extLst>
          </p:cNvPr>
          <p:cNvSpPr txBox="1">
            <a:spLocks noGrp="1"/>
          </p:cNvSpPr>
          <p:nvPr>
            <p:ph type="body" idx="4294967295"/>
          </p:nvPr>
        </p:nvSpPr>
        <p:spPr/>
        <p:txBody>
          <a:bodyPr vert="horz">
            <a:normAutofit fontScale="92500" lnSpcReduction="20000"/>
          </a:bodyPr>
          <a:lstStyle/>
          <a:p>
            <a:pPr lvl="0" rtl="0"/>
            <a:r>
              <a:rPr lang="en-US" dirty="0"/>
              <a:t>Language</a:t>
            </a:r>
          </a:p>
          <a:p>
            <a:pPr lvl="1" hangingPunct="0">
              <a:spcBef>
                <a:spcPts val="1417"/>
              </a:spcBef>
              <a:buSzPct val="75000"/>
              <a:buFont typeface="StarSymbol"/>
              <a:buChar char="–"/>
            </a:pPr>
            <a:r>
              <a:rPr lang="en-US" sz="3200" dirty="0">
                <a:highlight>
                  <a:scrgbClr r="0" g="0" b="0">
                    <a:alpha val="0"/>
                  </a:scrgbClr>
                </a:highlight>
                <a:latin typeface="Liberation Sans" pitchFamily="18"/>
              </a:rPr>
              <a:t>Compact classes, main() and java.lang.IO</a:t>
            </a:r>
          </a:p>
          <a:p>
            <a:pPr lvl="1" hangingPunct="0">
              <a:spcBef>
                <a:spcPts val="1417"/>
              </a:spcBef>
              <a:buSzPct val="75000"/>
              <a:buFont typeface="StarSymbol"/>
              <a:buChar char="–"/>
            </a:pPr>
            <a:r>
              <a:rPr lang="en-US" sz="3200" dirty="0">
                <a:highlight>
                  <a:scrgbClr r="0" g="0" b="0">
                    <a:alpha val="0"/>
                  </a:scrgbClr>
                </a:highlight>
                <a:latin typeface="Liberation Sans" pitchFamily="18"/>
              </a:rPr>
              <a:t>Import module</a:t>
            </a:r>
          </a:p>
          <a:p>
            <a:pPr lvl="1" hangingPunct="0">
              <a:spcBef>
                <a:spcPts val="1417"/>
              </a:spcBef>
              <a:buSzPct val="75000"/>
              <a:buFont typeface="StarSymbol"/>
              <a:buChar char="–"/>
            </a:pPr>
            <a:r>
              <a:rPr lang="en-US" sz="3200" dirty="0">
                <a:highlight>
                  <a:scrgbClr r="0" g="0" b="0">
                    <a:alpha val="0"/>
                  </a:scrgbClr>
                </a:highlight>
                <a:latin typeface="Liberation Sans" pitchFamily="18"/>
              </a:rPr>
              <a:t>Unnamed variable (‘_’) and the </a:t>
            </a:r>
            <a:r>
              <a:rPr lang="en-US" sz="3200" i="1" dirty="0">
                <a:highlight>
                  <a:scrgbClr r="0" g="0" b="0">
                    <a:alpha val="0"/>
                  </a:scrgbClr>
                </a:highlight>
                <a:latin typeface="Liberation Sans" pitchFamily="18"/>
              </a:rPr>
              <a:t>any </a:t>
            </a:r>
            <a:r>
              <a:rPr lang="en-US" sz="3200" dirty="0">
                <a:highlight>
                  <a:scrgbClr r="0" g="0" b="0">
                    <a:alpha val="0"/>
                  </a:scrgbClr>
                </a:highlight>
                <a:latin typeface="Liberation Sans" pitchFamily="18"/>
              </a:rPr>
              <a:t>pattern</a:t>
            </a:r>
            <a:br>
              <a:rPr lang="en-US" sz="3200" dirty="0">
                <a:highlight>
                  <a:scrgbClr r="0" g="0" b="0">
                    <a:alpha val="0"/>
                  </a:scrgbClr>
                </a:highlight>
                <a:latin typeface="Liberation Sans" pitchFamily="18"/>
              </a:rPr>
            </a:br>
            <a:r>
              <a:rPr lang="en-US" dirty="0">
                <a:highlight>
                  <a:scrgbClr r="0" g="0" b="0">
                    <a:alpha val="0"/>
                  </a:scrgbClr>
                </a:highlight>
                <a:latin typeface="Liberation Sans" pitchFamily="18"/>
              </a:rPr>
              <a:t>(released in 22)</a:t>
            </a:r>
          </a:p>
          <a:p>
            <a:pPr lvl="1" hangingPunct="0">
              <a:spcBef>
                <a:spcPts val="1417"/>
              </a:spcBef>
              <a:buSzPct val="75000"/>
              <a:buFont typeface="StarSymbol"/>
              <a:buChar char="–"/>
            </a:pPr>
            <a:r>
              <a:rPr lang="en-US" sz="3200" dirty="0">
                <a:highlight>
                  <a:scrgbClr r="0" g="0" b="0">
                    <a:alpha val="0"/>
                  </a:scrgbClr>
                </a:highlight>
                <a:latin typeface="Liberation Sans" pitchFamily="18"/>
              </a:rPr>
              <a:t>Flexible constructors</a:t>
            </a:r>
          </a:p>
          <a:p>
            <a:pPr lvl="1" hangingPunct="0">
              <a:spcBef>
                <a:spcPts val="1417"/>
              </a:spcBef>
              <a:buSzPct val="75000"/>
              <a:buFont typeface="StarSymbol"/>
              <a:buChar char="–"/>
            </a:pPr>
            <a:r>
              <a:rPr lang="en-US" sz="3200" dirty="0">
                <a:highlight>
                  <a:scrgbClr r="0" g="0" b="0">
                    <a:alpha val="0"/>
                  </a:scrgbClr>
                </a:highlight>
                <a:latin typeface="Liberation Sans" pitchFamily="18"/>
              </a:rPr>
              <a:t>Stream Gatherer  (released in 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B0DE97C-AB8C-D48F-468F-183ECDBE6BE8}"/>
              </a:ext>
            </a:extLst>
          </p:cNvPr>
          <p:cNvSpPr txBox="1"/>
          <p:nvPr/>
        </p:nvSpPr>
        <p:spPr>
          <a:xfrm>
            <a:off x="250903" y="334537"/>
            <a:ext cx="9746166" cy="4524315"/>
          </a:xfrm>
          <a:prstGeom prst="rect">
            <a:avLst/>
          </a:prstGeom>
          <a:noFill/>
        </p:spPr>
        <p:txBody>
          <a:bodyPr wrap="square">
            <a:spAutoFit/>
          </a:bodyPr>
          <a:lstStyle/>
          <a:p>
            <a:pPr>
              <a:buNone/>
            </a:pPr>
            <a:r>
              <a:rPr lang="fr-FR" b="1" dirty="0"/>
              <a:t>515: </a:t>
            </a:r>
            <a:r>
              <a:rPr lang="fr-FR" b="1" dirty="0" err="1"/>
              <a:t>Ahead</a:t>
            </a:r>
            <a:r>
              <a:rPr lang="fr-FR" b="1" dirty="0"/>
              <a:t>-of-Time Method Profiling</a:t>
            </a:r>
          </a:p>
          <a:p>
            <a:pPr>
              <a:buNone/>
            </a:pPr>
            <a:r>
              <a:rPr lang="fr-FR" dirty="0"/>
              <a:t>Le cache AOT présenté dans la section précédente s’enrichit des informations de profiling des méthodes !</a:t>
            </a:r>
          </a:p>
          <a:p>
            <a:pPr>
              <a:buNone/>
            </a:pPr>
            <a:r>
              <a:rPr lang="fr-FR" dirty="0"/>
              <a:t>Au démarrage d’une application Java, le Just-In-Time compiler (JIT) va profiler les méthodes Java pour savoir lesquels doivent être compilées (celle qui sont fréquemment utilisées) et guider ces optimisations via de nombreuses heuristiques (branches les plus utilisés, taille des boucles, …). C’est seulement après que ces informations de profiling auront été collectées, que le JIT va pouvoir compiler puis optimiser les classes de l’application.</a:t>
            </a:r>
          </a:p>
          <a:p>
            <a:pPr>
              <a:buNone/>
            </a:pPr>
            <a:endParaRPr lang="fr-FR" dirty="0"/>
          </a:p>
          <a:p>
            <a:pPr>
              <a:buNone/>
            </a:pPr>
            <a:r>
              <a:rPr lang="fr-FR" dirty="0"/>
              <a:t>La JEP 515 va étendre le cache AOT pour y ajouter les informations de profiling des méthodes, ce qui permettra au JIT de commencer avec des informations de profiling, et à l’application de démarrer plus rapidement et d’attendre plus rapidement ses performances de pointe. Le JIT collectera toujours des statistiques au runtime.</a:t>
            </a:r>
          </a:p>
          <a:p>
            <a:pPr>
              <a:buNone/>
            </a:pPr>
            <a:r>
              <a:rPr lang="fr-FR" dirty="0"/>
              <a:t>Des tests préliminaires montrent une amélioration de performance de 19% d’un programme simple utilisant l’API Stream pour une augmentation de la taille du cache AOT de seulement 2.5%.</a:t>
            </a:r>
          </a:p>
          <a:p>
            <a:pPr>
              <a:buNone/>
            </a:pPr>
            <a:r>
              <a:rPr lang="fr-FR" dirty="0"/>
              <a:t>Plus d’information dans la </a:t>
            </a:r>
            <a:r>
              <a:rPr lang="fr-FR" dirty="0">
                <a:hlinkClick r:id="rId2" tooltip="JEP 515"/>
              </a:rPr>
              <a:t>JEP 515</a:t>
            </a:r>
            <a:r>
              <a:rPr lang="fr-FR" dirty="0"/>
              <a:t>.</a:t>
            </a:r>
          </a:p>
        </p:txBody>
      </p:sp>
    </p:spTree>
    <p:extLst>
      <p:ext uri="{BB962C8B-B14F-4D97-AF65-F5344CB8AC3E}">
        <p14:creationId xmlns:p14="http://schemas.microsoft.com/office/powerpoint/2010/main" val="1248410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age17">
    <p:spTree>
      <p:nvGrpSpPr>
        <p:cNvPr id="1" name=""/>
        <p:cNvGrpSpPr/>
        <p:nvPr/>
      </p:nvGrpSpPr>
      <p:grpSpPr>
        <a:xfrm>
          <a:off x="0" y="0"/>
          <a:ext cx="0" cy="0"/>
          <a:chOff x="0" y="0"/>
          <a:chExt cx="0" cy="0"/>
        </a:xfrm>
      </p:grpSpPr>
      <p:sp>
        <p:nvSpPr>
          <p:cNvPr id="2" name="Sous-titre 1">
            <a:extLst>
              <a:ext uri="{FF2B5EF4-FFF2-40B4-BE49-F238E27FC236}">
                <a16:creationId xmlns:a16="http://schemas.microsoft.com/office/drawing/2014/main" id="{69206653-9BDE-2BA6-1C10-1ACE9CF90862}"/>
              </a:ext>
            </a:extLst>
          </p:cNvPr>
          <p:cNvSpPr txBox="1">
            <a:spLocks noGrp="1"/>
          </p:cNvSpPr>
          <p:nvPr>
            <p:ph type="subTitle" idx="4294967295"/>
          </p:nvPr>
        </p:nvSpPr>
        <p:spPr>
          <a:xfrm>
            <a:off x="503999" y="226080"/>
            <a:ext cx="9071640" cy="4388400"/>
          </a:xfrm>
        </p:spPr>
        <p:txBody>
          <a:bodyPr vert="horz" anchor="ctr"/>
          <a:lstStyle/>
          <a:p>
            <a:pPr lvl="0" algn="ctr" rtl="0"/>
            <a:r>
              <a:rPr lang="en-US" sz="4800"/>
              <a:t>Better Virtual Thread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age18">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3B366F-FC74-2CCF-527B-28DE797DC69D}"/>
              </a:ext>
            </a:extLst>
          </p:cNvPr>
          <p:cNvSpPr txBox="1">
            <a:spLocks noGrp="1"/>
          </p:cNvSpPr>
          <p:nvPr>
            <p:ph type="title" idx="4294967295"/>
          </p:nvPr>
        </p:nvSpPr>
        <p:spPr/>
        <p:txBody>
          <a:bodyPr vert="horz">
            <a:spAutoFit/>
          </a:bodyPr>
          <a:lstStyle/>
          <a:p>
            <a:pPr lvl="0" rtl="0"/>
            <a:r>
              <a:rPr lang="en-US"/>
              <a:t>Synchronized + IO calls</a:t>
            </a:r>
          </a:p>
        </p:txBody>
      </p:sp>
      <p:sp>
        <p:nvSpPr>
          <p:cNvPr id="3" name="Espace réservé du texte 2">
            <a:extLst>
              <a:ext uri="{FF2B5EF4-FFF2-40B4-BE49-F238E27FC236}">
                <a16:creationId xmlns:a16="http://schemas.microsoft.com/office/drawing/2014/main" id="{398A4EED-26A7-2394-2B1B-617681B966D6}"/>
              </a:ext>
            </a:extLst>
          </p:cNvPr>
          <p:cNvSpPr txBox="1">
            <a:spLocks noGrp="1"/>
          </p:cNvSpPr>
          <p:nvPr>
            <p:ph type="body" idx="4294967295"/>
          </p:nvPr>
        </p:nvSpPr>
        <p:spPr/>
        <p:txBody>
          <a:bodyPr vert="horz">
            <a:normAutofit fontScale="77500" lnSpcReduction="20000"/>
          </a:bodyPr>
          <a:lstStyle/>
          <a:p>
            <a:pPr lvl="0" rtl="0"/>
            <a:r>
              <a:rPr lang="en-US"/>
              <a:t>Until Java 24</a:t>
            </a:r>
          </a:p>
          <a:p>
            <a:pPr lvl="1" hangingPunct="0">
              <a:spcBef>
                <a:spcPts val="1417"/>
              </a:spcBef>
              <a:buSzPct val="75000"/>
              <a:buFont typeface="StarSymbol"/>
              <a:buChar char="–"/>
            </a:pPr>
            <a:r>
              <a:rPr lang="en-US" sz="3200">
                <a:highlight>
                  <a:scrgbClr r="0" g="0" b="0">
                    <a:alpha val="0"/>
                  </a:scrgbClr>
                </a:highlight>
                <a:latin typeface="Liberation Sans" pitchFamily="18"/>
              </a:rPr>
              <a:t>synchronized(foo) {</a:t>
            </a:r>
            <a:br>
              <a:rPr lang="en-US" sz="3200">
                <a:highlight>
                  <a:scrgbClr r="0" g="0" b="0">
                    <a:alpha val="0"/>
                  </a:scrgbClr>
                </a:highlight>
                <a:latin typeface="Liberation Sans" pitchFamily="18"/>
              </a:rPr>
            </a:br>
            <a:r>
              <a:rPr lang="en-US" sz="3200">
                <a:highlight>
                  <a:scrgbClr r="0" g="0" b="0">
                    <a:alpha val="0"/>
                  </a:scrgbClr>
                </a:highlight>
                <a:latin typeface="Liberation Sans" pitchFamily="18"/>
              </a:rPr>
              <a:t>  channel.read(…);  // block the carrier thread </a:t>
            </a:r>
            <a:br>
              <a:rPr lang="en-US" sz="3200">
                <a:highlight>
                  <a:scrgbClr r="0" g="0" b="0">
                    <a:alpha val="0"/>
                  </a:scrgbClr>
                </a:highlight>
                <a:latin typeface="Liberation Sans" pitchFamily="18"/>
              </a:rPr>
            </a:br>
            <a:r>
              <a:rPr lang="en-US" sz="3200">
                <a:highlight>
                  <a:scrgbClr r="0" g="0" b="0">
                    <a:alpha val="0"/>
                  </a:scrgbClr>
                </a:highlight>
                <a:latin typeface="Liberation Sans" pitchFamily="18"/>
              </a:rPr>
              <a:t>}                               // aka virtual thread pinning</a:t>
            </a:r>
            <a:br>
              <a:rPr lang="en-US" sz="3200">
                <a:highlight>
                  <a:scrgbClr r="0" g="0" b="0">
                    <a:alpha val="0"/>
                  </a:scrgbClr>
                </a:highlight>
                <a:latin typeface="Liberation Sans" pitchFamily="18"/>
              </a:rPr>
            </a:br>
            <a:endParaRPr lang="en-US" sz="3200">
              <a:highlight>
                <a:scrgbClr r="0" g="0" b="0">
                  <a:alpha val="0"/>
                </a:scrgbClr>
              </a:highlight>
              <a:latin typeface="Liberation Sans" pitchFamily="18"/>
            </a:endParaRPr>
          </a:p>
          <a:p>
            <a:pPr lvl="1" hangingPunct="0">
              <a:spcBef>
                <a:spcPts val="1417"/>
              </a:spcBef>
              <a:buSzPct val="75000"/>
              <a:buFont typeface="StarSymbol"/>
              <a:buChar char="–"/>
            </a:pPr>
            <a:r>
              <a:rPr lang="en-US" sz="3200">
                <a:highlight>
                  <a:scrgbClr r="0" g="0" b="0">
                    <a:alpha val="0"/>
                  </a:scrgbClr>
                </a:highlight>
                <a:latin typeface="Liberation Sans" pitchFamily="18"/>
              </a:rPr>
              <a:t>Synchronized fast path (not contented) stores the lock inside the stack</a:t>
            </a:r>
          </a:p>
          <a:p>
            <a:pPr lvl="2" hangingPunct="0">
              <a:spcBef>
                <a:spcPts val="1417"/>
              </a:spcBef>
              <a:buSzPct val="45000"/>
              <a:buFont typeface="StarSymbol"/>
              <a:buChar char="●"/>
            </a:pPr>
            <a:r>
              <a:rPr lang="en-US" sz="3200">
                <a:highlight>
                  <a:scrgbClr r="0" g="0" b="0">
                    <a:alpha val="0"/>
                  </a:scrgbClr>
                </a:highlight>
                <a:latin typeface="Liberation Sans" pitchFamily="18"/>
              </a:rPr>
              <a:t>The header of the object point to the lock on stack</a:t>
            </a:r>
          </a:p>
          <a:p>
            <a:pPr lvl="2" hangingPunct="0">
              <a:spcBef>
                <a:spcPts val="1417"/>
              </a:spcBef>
              <a:buSzPct val="45000"/>
              <a:buFont typeface="StarSymbol"/>
              <a:buChar char="●"/>
            </a:pPr>
            <a:r>
              <a:rPr lang="en-US" sz="3200">
                <a:highlight>
                  <a:scrgbClr r="0" g="0" b="0">
                    <a:alpha val="0"/>
                  </a:scrgbClr>
                </a:highlight>
                <a:latin typeface="Liberation Sans" pitchFamily="18"/>
              </a:rPr>
              <a:t>To it can not be copied to heap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age19">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B92A05-41C8-F348-6ABA-2310532C9E93}"/>
              </a:ext>
            </a:extLst>
          </p:cNvPr>
          <p:cNvSpPr txBox="1">
            <a:spLocks noGrp="1"/>
          </p:cNvSpPr>
          <p:nvPr>
            <p:ph type="title" idx="4294967295"/>
          </p:nvPr>
        </p:nvSpPr>
        <p:spPr/>
        <p:txBody>
          <a:bodyPr vert="horz">
            <a:spAutoFit/>
          </a:bodyPr>
          <a:lstStyle/>
          <a:p>
            <a:pPr lvl="0" rtl="0"/>
            <a:r>
              <a:rPr lang="en-US"/>
              <a:t>Synchronized + IO calls</a:t>
            </a:r>
          </a:p>
        </p:txBody>
      </p:sp>
      <p:sp>
        <p:nvSpPr>
          <p:cNvPr id="3" name="Espace réservé du texte 2">
            <a:extLst>
              <a:ext uri="{FF2B5EF4-FFF2-40B4-BE49-F238E27FC236}">
                <a16:creationId xmlns:a16="http://schemas.microsoft.com/office/drawing/2014/main" id="{3678FD6C-F688-608D-8867-7DDAE0D29EDF}"/>
              </a:ext>
            </a:extLst>
          </p:cNvPr>
          <p:cNvSpPr txBox="1">
            <a:spLocks noGrp="1"/>
          </p:cNvSpPr>
          <p:nvPr>
            <p:ph type="body" idx="4294967295"/>
          </p:nvPr>
        </p:nvSpPr>
        <p:spPr/>
        <p:txBody>
          <a:bodyPr vert="horz">
            <a:normAutofit fontScale="70000" lnSpcReduction="20000"/>
          </a:bodyPr>
          <a:lstStyle/>
          <a:p>
            <a:pPr lvl="0" rtl="0"/>
            <a:r>
              <a:rPr lang="en-US"/>
              <a:t>In Java 24</a:t>
            </a:r>
          </a:p>
          <a:p>
            <a:pPr lvl="1" hangingPunct="0">
              <a:spcBef>
                <a:spcPts val="1417"/>
              </a:spcBef>
              <a:buSzPct val="75000"/>
              <a:buFont typeface="StarSymbol"/>
              <a:buChar char="–"/>
            </a:pPr>
            <a:r>
              <a:rPr lang="en-US" sz="3200">
                <a:highlight>
                  <a:scrgbClr r="0" g="0" b="0">
                    <a:alpha val="0"/>
                  </a:scrgbClr>
                </a:highlight>
                <a:latin typeface="Liberation Sans" pitchFamily="18"/>
              </a:rPr>
              <a:t>Synchronized is re-implemented</a:t>
            </a:r>
          </a:p>
          <a:p>
            <a:pPr lvl="2" hangingPunct="0">
              <a:spcBef>
                <a:spcPts val="1417"/>
              </a:spcBef>
              <a:buSzPct val="45000"/>
              <a:buFont typeface="StarSymbol"/>
              <a:buChar char="●"/>
            </a:pPr>
            <a:r>
              <a:rPr lang="en-US" sz="3200">
                <a:highlight>
                  <a:scrgbClr r="0" g="0" b="0">
                    <a:alpha val="0"/>
                  </a:scrgbClr>
                </a:highlight>
                <a:latin typeface="Liberation Sans" pitchFamily="18"/>
              </a:rPr>
              <a:t>The fast lock is stored in a lock arena</a:t>
            </a:r>
            <a:br>
              <a:rPr lang="en-US" sz="3200">
                <a:highlight>
                  <a:scrgbClr r="0" g="0" b="0">
                    <a:alpha val="0"/>
                  </a:scrgbClr>
                </a:highlight>
                <a:latin typeface="Liberation Sans" pitchFamily="18"/>
              </a:rPr>
            </a:br>
            <a:r>
              <a:rPr lang="en-US" sz="3200">
                <a:highlight>
                  <a:scrgbClr r="0" g="0" b="0">
                    <a:alpha val="0"/>
                  </a:scrgbClr>
                </a:highlight>
                <a:latin typeface="Liberation Sans" pitchFamily="18"/>
              </a:rPr>
              <a:t>at the bottom of the stack</a:t>
            </a:r>
            <a:br>
              <a:rPr lang="en-US" sz="3200">
                <a:highlight>
                  <a:scrgbClr r="0" g="0" b="0">
                    <a:alpha val="0"/>
                  </a:scrgbClr>
                </a:highlight>
                <a:latin typeface="Liberation Sans" pitchFamily="18"/>
              </a:rPr>
            </a:br>
            <a:endParaRPr lang="en-US" sz="3200">
              <a:highlight>
                <a:scrgbClr r="0" g="0" b="0">
                  <a:alpha val="0"/>
                </a:scrgbClr>
              </a:highlight>
              <a:latin typeface="Liberation Sans" pitchFamily="18"/>
            </a:endParaRPr>
          </a:p>
          <a:p>
            <a:pPr lvl="1" hangingPunct="0">
              <a:spcBef>
                <a:spcPts val="1417"/>
              </a:spcBef>
              <a:buSzPct val="75000"/>
              <a:buFont typeface="StarSymbol"/>
              <a:buChar char="–"/>
            </a:pPr>
            <a:r>
              <a:rPr lang="en-US" sz="3200">
                <a:highlight>
                  <a:scrgbClr r="0" g="0" b="0">
                    <a:alpha val="0"/>
                  </a:scrgbClr>
                </a:highlight>
                <a:latin typeface="Liberation Sans" pitchFamily="18"/>
              </a:rPr>
              <a:t>Part of project Liliput</a:t>
            </a:r>
          </a:p>
          <a:p>
            <a:pPr lvl="2" hangingPunct="0">
              <a:spcBef>
                <a:spcPts val="1417"/>
              </a:spcBef>
              <a:buSzPct val="45000"/>
              <a:buFont typeface="StarSymbol"/>
              <a:buChar char="●"/>
            </a:pPr>
            <a:r>
              <a:rPr lang="en-US" sz="3200">
                <a:highlight>
                  <a:scrgbClr r="0" g="0" b="0">
                    <a:alpha val="0"/>
                  </a:scrgbClr>
                </a:highlight>
                <a:latin typeface="Liberation Sans" pitchFamily="18"/>
              </a:rPr>
              <a:t>Move header from 96 bits to 64 bits</a:t>
            </a:r>
          </a:p>
          <a:p>
            <a:pPr lvl="2" hangingPunct="0">
              <a:spcBef>
                <a:spcPts val="1417"/>
              </a:spcBef>
              <a:buSzPct val="45000"/>
              <a:buFont typeface="StarSymbol"/>
              <a:buChar char="●"/>
            </a:pPr>
            <a:r>
              <a:rPr lang="en-US" sz="3200">
                <a:highlight>
                  <a:scrgbClr r="0" g="0" b="0">
                    <a:alpha val="0"/>
                  </a:scrgbClr>
                </a:highlight>
                <a:latin typeface="Liberation Sans" pitchFamily="18"/>
              </a:rPr>
              <a:t>Enable with -XX:+UseCompactObjectHeaders</a:t>
            </a:r>
          </a:p>
          <a:p>
            <a:pPr lvl="3" hangingPunct="0">
              <a:spcBef>
                <a:spcPts val="1417"/>
              </a:spcBef>
              <a:buSzPct val="75000"/>
              <a:buFont typeface="StarSymbol"/>
              <a:buChar char="–"/>
            </a:pPr>
            <a:r>
              <a:rPr lang="en-US" sz="3200">
                <a:highlight>
                  <a:scrgbClr r="0" g="0" b="0">
                    <a:alpha val="0"/>
                  </a:scrgbClr>
                </a:highlight>
                <a:latin typeface="Liberation Sans" pitchFamily="18"/>
              </a:rPr>
              <a:t>Should be default in Java 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2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CC4176-C4FA-A047-AD58-79C94FAFA106}"/>
              </a:ext>
            </a:extLst>
          </p:cNvPr>
          <p:cNvSpPr txBox="1">
            <a:spLocks noGrp="1"/>
          </p:cNvSpPr>
          <p:nvPr>
            <p:ph type="title" idx="4294967295"/>
          </p:nvPr>
        </p:nvSpPr>
        <p:spPr>
          <a:xfrm>
            <a:off x="250902" y="226080"/>
            <a:ext cx="9662532" cy="946440"/>
          </a:xfrm>
        </p:spPr>
        <p:txBody>
          <a:bodyPr vert="horz"/>
          <a:lstStyle/>
          <a:p>
            <a:pPr lvl="0" rtl="0"/>
            <a:r>
              <a:rPr lang="en-US" dirty="0" err="1"/>
              <a:t>ScopeValue</a:t>
            </a:r>
            <a:r>
              <a:rPr lang="en-US" dirty="0"/>
              <a:t> </a:t>
            </a:r>
            <a:r>
              <a:rPr lang="en-US" dirty="0" err="1"/>
              <a:t>ThreadLocal</a:t>
            </a:r>
            <a:r>
              <a:rPr lang="en-US" dirty="0"/>
              <a:t> replacement</a:t>
            </a:r>
          </a:p>
        </p:txBody>
      </p:sp>
      <p:sp>
        <p:nvSpPr>
          <p:cNvPr id="3" name="Espace réservé du texte 2">
            <a:extLst>
              <a:ext uri="{FF2B5EF4-FFF2-40B4-BE49-F238E27FC236}">
                <a16:creationId xmlns:a16="http://schemas.microsoft.com/office/drawing/2014/main" id="{FFFF9E0F-D479-8E77-AE4C-985894CA64A4}"/>
              </a:ext>
            </a:extLst>
          </p:cNvPr>
          <p:cNvSpPr txBox="1">
            <a:spLocks noGrp="1"/>
          </p:cNvSpPr>
          <p:nvPr>
            <p:ph type="body" idx="4294967295"/>
          </p:nvPr>
        </p:nvSpPr>
        <p:spPr/>
        <p:txBody>
          <a:bodyPr vert="horz">
            <a:normAutofit fontScale="92500" lnSpcReduction="20000"/>
          </a:bodyPr>
          <a:lstStyle/>
          <a:p>
            <a:pPr lvl="0" rtl="0">
              <a:buSzPct val="45000"/>
              <a:buFont typeface="StarSymbol"/>
              <a:buChar char="●"/>
            </a:pPr>
            <a:r>
              <a:rPr lang="en-US" dirty="0" err="1"/>
              <a:t>ThreadLocal</a:t>
            </a:r>
            <a:r>
              <a:rPr lang="en-US" dirty="0"/>
              <a:t> issues</a:t>
            </a:r>
          </a:p>
          <a:p>
            <a:pPr lvl="1" hangingPunct="0">
              <a:spcBef>
                <a:spcPts val="1417"/>
              </a:spcBef>
              <a:buSzPct val="75000"/>
              <a:buFont typeface="StarSymbol"/>
              <a:buChar char="–"/>
            </a:pPr>
            <a:r>
              <a:rPr lang="en-US" sz="3200" dirty="0">
                <a:highlight>
                  <a:scrgbClr r="0" g="0" b="0">
                    <a:alpha val="0"/>
                  </a:scrgbClr>
                </a:highlight>
                <a:latin typeface="Liberation Sans" pitchFamily="18"/>
              </a:rPr>
              <a:t>Does not scale with many virtual threads</a:t>
            </a:r>
          </a:p>
          <a:p>
            <a:pPr lvl="1" hangingPunct="0">
              <a:spcBef>
                <a:spcPts val="1417"/>
              </a:spcBef>
              <a:buSzPct val="75000"/>
              <a:buFont typeface="StarSymbol"/>
              <a:buChar char="–"/>
            </a:pPr>
            <a:r>
              <a:rPr lang="en-US" sz="3200" dirty="0">
                <a:highlight>
                  <a:scrgbClr r="0" g="0" b="0">
                    <a:alpha val="0"/>
                  </a:scrgbClr>
                </a:highlight>
                <a:latin typeface="Liberation Sans" pitchFamily="18"/>
              </a:rPr>
              <a:t>Not lightweight</a:t>
            </a:r>
          </a:p>
          <a:p>
            <a:pPr lvl="1" hangingPunct="0">
              <a:spcBef>
                <a:spcPts val="1417"/>
              </a:spcBef>
              <a:buSzPct val="75000"/>
              <a:buFont typeface="StarSymbol"/>
              <a:buChar char="–"/>
            </a:pPr>
            <a:r>
              <a:rPr lang="en-US" sz="3200" dirty="0">
                <a:highlight>
                  <a:scrgbClr r="0" g="0" b="0">
                    <a:alpha val="0"/>
                  </a:scrgbClr>
                </a:highlight>
                <a:latin typeface="Liberation Sans" pitchFamily="18"/>
              </a:rPr>
              <a:t>Hard to optimize for the JIT (mutation)</a:t>
            </a:r>
            <a:br>
              <a:rPr lang="en-US" sz="3200" dirty="0">
                <a:highlight>
                  <a:scrgbClr r="0" g="0" b="0">
                    <a:alpha val="0"/>
                  </a:scrgbClr>
                </a:highlight>
                <a:latin typeface="Liberation Sans" pitchFamily="18"/>
              </a:rPr>
            </a:br>
            <a:endParaRPr lang="en-US" sz="3200" dirty="0">
              <a:highlight>
                <a:scrgbClr r="0" g="0" b="0">
                  <a:alpha val="0"/>
                </a:scrgbClr>
              </a:highlight>
              <a:latin typeface="Liberation Sans" pitchFamily="18"/>
            </a:endParaRPr>
          </a:p>
          <a:p>
            <a:pPr lvl="0" rtl="0">
              <a:buSzPct val="45000"/>
              <a:buFont typeface="StarSymbol"/>
              <a:buChar char="●"/>
            </a:pPr>
            <a:r>
              <a:rPr lang="en-US" dirty="0"/>
              <a:t>Need both a better API and a better implementation</a:t>
            </a:r>
          </a:p>
          <a:p>
            <a:pPr lvl="1" hangingPunct="0">
              <a:spcBef>
                <a:spcPts val="1417"/>
              </a:spcBef>
              <a:buSzPct val="75000"/>
              <a:buFont typeface="StarSymbol"/>
              <a:buChar char="–"/>
            </a:pPr>
            <a:r>
              <a:rPr lang="en-US" sz="3200" dirty="0" err="1">
                <a:highlight>
                  <a:scrgbClr r="0" g="0" b="0">
                    <a:alpha val="0"/>
                  </a:scrgbClr>
                </a:highlight>
                <a:latin typeface="Liberation Sans" pitchFamily="18"/>
              </a:rPr>
              <a:t>ScopeValue</a:t>
            </a:r>
            <a:endParaRPr lang="en-US" sz="3200" dirty="0">
              <a:highlight>
                <a:scrgbClr r="0" g="0" b="0">
                  <a:alpha val="0"/>
                </a:scrgbClr>
              </a:highlight>
              <a:latin typeface="Liberation Sans" pitchFamily="1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ge22">
    <p:spTree>
      <p:nvGrpSpPr>
        <p:cNvPr id="1" name=""/>
        <p:cNvGrpSpPr/>
        <p:nvPr/>
      </p:nvGrpSpPr>
      <p:grpSpPr>
        <a:xfrm>
          <a:off x="0" y="0"/>
          <a:ext cx="0" cy="0"/>
          <a:chOff x="0" y="0"/>
          <a:chExt cx="0" cy="0"/>
        </a:xfrm>
      </p:grpSpPr>
      <p:sp>
        <p:nvSpPr>
          <p:cNvPr id="2" name="Sous-titre 1">
            <a:extLst>
              <a:ext uri="{FF2B5EF4-FFF2-40B4-BE49-F238E27FC236}">
                <a16:creationId xmlns:a16="http://schemas.microsoft.com/office/drawing/2014/main" id="{39E7B2BD-02E0-28A6-4DE1-84D6A2BB034A}"/>
              </a:ext>
            </a:extLst>
          </p:cNvPr>
          <p:cNvSpPr txBox="1">
            <a:spLocks noGrp="1"/>
          </p:cNvSpPr>
          <p:nvPr>
            <p:ph type="subTitle" idx="4294967295"/>
          </p:nvPr>
        </p:nvSpPr>
        <p:spPr>
          <a:xfrm>
            <a:off x="503999" y="226080"/>
            <a:ext cx="9071640" cy="4388400"/>
          </a:xfrm>
        </p:spPr>
        <p:txBody>
          <a:bodyPr vert="horz" anchor="ctr"/>
          <a:lstStyle/>
          <a:p>
            <a:pPr lvl="0" algn="ctr" rtl="0"/>
            <a:r>
              <a:rPr lang="en-US" sz="4800" dirty="0"/>
              <a:t>DEMO !</a:t>
            </a:r>
          </a:p>
        </p:txBody>
      </p:sp>
      <p:sp>
        <p:nvSpPr>
          <p:cNvPr id="3" name="ZoneTexte 2">
            <a:extLst>
              <a:ext uri="{FF2B5EF4-FFF2-40B4-BE49-F238E27FC236}">
                <a16:creationId xmlns:a16="http://schemas.microsoft.com/office/drawing/2014/main" id="{AE39F993-E4CA-C7CE-3818-2D1DDA8C2C69}"/>
              </a:ext>
            </a:extLst>
          </p:cNvPr>
          <p:cNvSpPr txBox="1"/>
          <p:nvPr/>
        </p:nvSpPr>
        <p:spPr>
          <a:xfrm>
            <a:off x="2188080" y="3383280"/>
            <a:ext cx="5704200" cy="4302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0"/>
              </a:spcBef>
              <a:spcAft>
                <a:spcPts val="0"/>
              </a:spcAft>
              <a:buNone/>
              <a:tabLst/>
            </a:pPr>
            <a:r>
              <a:rPr lang="en-US" sz="2400" b="0" i="0" u="none" strike="noStrike" kern="1200" cap="none">
                <a:ln>
                  <a:noFill/>
                </a:ln>
                <a:latin typeface="Liberation Sans" pitchFamily="18"/>
                <a:ea typeface="Source Han Sans CN" pitchFamily="2"/>
                <a:cs typeface="Lohit Devanagari" pitchFamily="2"/>
              </a:rPr>
              <a:t>https://github.com/forax/java-25-demo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13FD234-C279-C8BC-4DE3-1D87D532317C}"/>
              </a:ext>
            </a:extLst>
          </p:cNvPr>
          <p:cNvSpPr txBox="1"/>
          <p:nvPr/>
        </p:nvSpPr>
        <p:spPr>
          <a:xfrm>
            <a:off x="1237746" y="1655467"/>
            <a:ext cx="6941595" cy="1754326"/>
          </a:xfrm>
          <a:prstGeom prst="rect">
            <a:avLst/>
          </a:prstGeom>
          <a:noFill/>
        </p:spPr>
        <p:txBody>
          <a:bodyPr wrap="square">
            <a:spAutoFit/>
          </a:bodyPr>
          <a:lstStyle/>
          <a:p>
            <a:pPr algn="ctr">
              <a:buNone/>
            </a:pPr>
            <a:r>
              <a:rPr lang="fr-FR" sz="3600" b="1" dirty="0"/>
              <a:t>Spring Boot 4</a:t>
            </a:r>
          </a:p>
          <a:p>
            <a:pPr algn="ctr">
              <a:buNone/>
            </a:pPr>
            <a:r>
              <a:rPr lang="fr-FR" sz="3600" b="1" dirty="0"/>
              <a:t>Spring Framework 7 Perspective</a:t>
            </a:r>
          </a:p>
          <a:p>
            <a:pPr algn="ctr">
              <a:buNone/>
            </a:pPr>
            <a:r>
              <a:rPr lang="fr-FR" sz="3600" b="1" dirty="0"/>
              <a:t>JDK 17 </a:t>
            </a:r>
            <a:r>
              <a:rPr lang="fr-FR" sz="3600" b="1" dirty="0" err="1"/>
              <a:t>baseline</a:t>
            </a:r>
            <a:endParaRPr lang="fr-FR" sz="3600" b="1" dirty="0"/>
          </a:p>
        </p:txBody>
      </p:sp>
      <p:sp>
        <p:nvSpPr>
          <p:cNvPr id="13" name="ZoneTexte 12">
            <a:extLst>
              <a:ext uri="{FF2B5EF4-FFF2-40B4-BE49-F238E27FC236}">
                <a16:creationId xmlns:a16="http://schemas.microsoft.com/office/drawing/2014/main" id="{F65765D7-3646-5F06-B52B-D442CF19711D}"/>
              </a:ext>
            </a:extLst>
          </p:cNvPr>
          <p:cNvSpPr txBox="1"/>
          <p:nvPr/>
        </p:nvSpPr>
        <p:spPr>
          <a:xfrm>
            <a:off x="1081629" y="4726834"/>
            <a:ext cx="8631044" cy="369332"/>
          </a:xfrm>
          <a:prstGeom prst="rect">
            <a:avLst/>
          </a:prstGeom>
          <a:noFill/>
        </p:spPr>
        <p:txBody>
          <a:bodyPr wrap="square">
            <a:spAutoFit/>
          </a:bodyPr>
          <a:lstStyle/>
          <a:p>
            <a:r>
              <a:rPr lang="fr-FR" dirty="0">
                <a:hlinkClick r:id="rId2"/>
              </a:rPr>
              <a:t>https://github.com/spring-projects/spring-framework/releases/tag/v7.0.0-RC1</a:t>
            </a:r>
            <a:r>
              <a:rPr lang="fr-FR" dirty="0"/>
              <a:t> </a:t>
            </a:r>
          </a:p>
        </p:txBody>
      </p:sp>
    </p:spTree>
    <p:extLst>
      <p:ext uri="{BB962C8B-B14F-4D97-AF65-F5344CB8AC3E}">
        <p14:creationId xmlns:p14="http://schemas.microsoft.com/office/powerpoint/2010/main" val="1680560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AEC0183-E7A6-6673-D331-4DA4F57879AA}"/>
              </a:ext>
            </a:extLst>
          </p:cNvPr>
          <p:cNvSpPr txBox="1"/>
          <p:nvPr/>
        </p:nvSpPr>
        <p:spPr>
          <a:xfrm>
            <a:off x="4164983" y="144966"/>
            <a:ext cx="2185638" cy="369332"/>
          </a:xfrm>
          <a:prstGeom prst="rect">
            <a:avLst/>
          </a:prstGeom>
          <a:noFill/>
        </p:spPr>
        <p:txBody>
          <a:bodyPr wrap="square">
            <a:spAutoFit/>
          </a:bodyPr>
          <a:lstStyle/>
          <a:p>
            <a:r>
              <a:rPr lang="fr-FR" b="1"/>
              <a:t>Spring Boot 4</a:t>
            </a:r>
            <a:endParaRPr lang="fr-FR" dirty="0"/>
          </a:p>
        </p:txBody>
      </p:sp>
      <p:sp>
        <p:nvSpPr>
          <p:cNvPr id="4" name="ZoneTexte 3">
            <a:extLst>
              <a:ext uri="{FF2B5EF4-FFF2-40B4-BE49-F238E27FC236}">
                <a16:creationId xmlns:a16="http://schemas.microsoft.com/office/drawing/2014/main" id="{3AC2C577-1208-3402-8F27-C83B64495AD1}"/>
              </a:ext>
            </a:extLst>
          </p:cNvPr>
          <p:cNvSpPr txBox="1"/>
          <p:nvPr/>
        </p:nvSpPr>
        <p:spPr>
          <a:xfrm>
            <a:off x="2010009" y="571720"/>
            <a:ext cx="6495585" cy="369332"/>
          </a:xfrm>
          <a:prstGeom prst="rect">
            <a:avLst/>
          </a:prstGeom>
          <a:noFill/>
        </p:spPr>
        <p:txBody>
          <a:bodyPr wrap="square">
            <a:spAutoFit/>
          </a:bodyPr>
          <a:lstStyle/>
          <a:p>
            <a:r>
              <a:rPr lang="fr-FR" dirty="0">
                <a:hlinkClick r:id="rId3"/>
              </a:rPr>
              <a:t>https://spring.io/blog/2025/10/28/modularizing-spring-boot</a:t>
            </a:r>
            <a:r>
              <a:rPr lang="fr-FR" dirty="0"/>
              <a:t> </a:t>
            </a:r>
          </a:p>
        </p:txBody>
      </p:sp>
      <p:sp>
        <p:nvSpPr>
          <p:cNvPr id="6" name="ZoneTexte 5">
            <a:extLst>
              <a:ext uri="{FF2B5EF4-FFF2-40B4-BE49-F238E27FC236}">
                <a16:creationId xmlns:a16="http://schemas.microsoft.com/office/drawing/2014/main" id="{0BA1B582-CFE5-84E0-873A-D043F06B53D0}"/>
              </a:ext>
            </a:extLst>
          </p:cNvPr>
          <p:cNvSpPr txBox="1"/>
          <p:nvPr/>
        </p:nvSpPr>
        <p:spPr>
          <a:xfrm>
            <a:off x="551985" y="998473"/>
            <a:ext cx="9339147" cy="4247317"/>
          </a:xfrm>
          <a:prstGeom prst="rect">
            <a:avLst/>
          </a:prstGeom>
          <a:noFill/>
        </p:spPr>
        <p:txBody>
          <a:bodyPr wrap="square">
            <a:spAutoFit/>
          </a:bodyPr>
          <a:lstStyle/>
          <a:p>
            <a:pPr>
              <a:buNone/>
            </a:pPr>
            <a:r>
              <a:rPr lang="fr-FR" b="1" dirty="0"/>
              <a:t>Architecture modulaire dans Spring Boot 4</a:t>
            </a:r>
          </a:p>
          <a:p>
            <a:pPr marL="742950" lvl="1" indent="-285750">
              <a:buFont typeface="Arial" panose="020B0604020202020204" pitchFamily="34" charset="0"/>
              <a:buChar char="•"/>
            </a:pPr>
            <a:r>
              <a:rPr lang="fr-FR" dirty="0"/>
              <a:t>Chaque technologie supportée dispose de son propre starter (et module), certains étant nouveaux avec la version 4</a:t>
            </a:r>
          </a:p>
          <a:p>
            <a:pPr>
              <a:buFont typeface="Arial" panose="020B0604020202020204" pitchFamily="34" charset="0"/>
              <a:buChar char="•"/>
            </a:pPr>
            <a:endParaRPr lang="fr-FR" dirty="0"/>
          </a:p>
          <a:p>
            <a:r>
              <a:rPr lang="fr-FR" b="1" dirty="0"/>
              <a:t>Avantages</a:t>
            </a:r>
            <a:r>
              <a:rPr lang="fr-FR" dirty="0"/>
              <a:t> :</a:t>
            </a:r>
          </a:p>
          <a:p>
            <a:pPr marL="742950" lvl="1" indent="-285750">
              <a:buFont typeface="Arial" panose="020B0604020202020204" pitchFamily="34" charset="0"/>
              <a:buChar char="•"/>
            </a:pPr>
            <a:r>
              <a:rPr lang="fr-FR" b="1" dirty="0"/>
              <a:t>Clarté et maintenabilité</a:t>
            </a:r>
          </a:p>
          <a:p>
            <a:pPr marL="742950" lvl="1" indent="-285750">
              <a:buFont typeface="Arial" panose="020B0604020202020204" pitchFamily="34" charset="0"/>
              <a:buChar char="•"/>
            </a:pPr>
            <a:r>
              <a:rPr lang="fr-FR" b="1" dirty="0"/>
              <a:t>Réduction de la taille des artefacts et du coût au démarrage</a:t>
            </a:r>
            <a:r>
              <a:rPr lang="fr-FR" dirty="0"/>
              <a:t> : seules les dépendances nécessaires sont incluses, ce qui réduit les scans de classe, la charge sur le classpath, etc.</a:t>
            </a:r>
          </a:p>
          <a:p>
            <a:pPr marL="742950" lvl="1" indent="-285750">
              <a:buFont typeface="Arial" panose="020B0604020202020204" pitchFamily="34" charset="0"/>
              <a:buChar char="•"/>
            </a:pPr>
            <a:r>
              <a:rPr lang="fr-FR" b="1" dirty="0" err="1"/>
              <a:t>Auto-configuration</a:t>
            </a:r>
            <a:r>
              <a:rPr lang="fr-FR" dirty="0"/>
              <a:t> : on saura plus précisément pourquoi un module est inclus (ex. : inclusion explicite de </a:t>
            </a:r>
            <a:r>
              <a:rPr lang="fr-FR" dirty="0" err="1">
                <a:latin typeface="Courier New" panose="02070309020205020404" pitchFamily="49" charset="0"/>
              </a:rPr>
              <a:t>spring</a:t>
            </a:r>
            <a:r>
              <a:rPr lang="fr-FR" dirty="0">
                <a:latin typeface="Courier New" panose="02070309020205020404" pitchFamily="49" charset="0"/>
              </a:rPr>
              <a:t>-boot-</a:t>
            </a:r>
            <a:r>
              <a:rPr lang="fr-FR" dirty="0" err="1">
                <a:latin typeface="Courier New" panose="02070309020205020404" pitchFamily="49" charset="0"/>
              </a:rPr>
              <a:t>webclient</a:t>
            </a:r>
            <a:r>
              <a:rPr lang="fr-FR" dirty="0"/>
              <a:t> sans charger tout le support Web MVC)</a:t>
            </a:r>
          </a:p>
          <a:p>
            <a:pPr marL="742950" lvl="1" indent="-285750">
              <a:buFont typeface="Arial" panose="020B0604020202020204" pitchFamily="34" charset="0"/>
              <a:buChar char="•"/>
            </a:pPr>
            <a:r>
              <a:rPr lang="fr-FR" b="1" dirty="0"/>
              <a:t>Nouveaux cas d’usage</a:t>
            </a:r>
            <a:r>
              <a:rPr lang="fr-FR" dirty="0"/>
              <a:t> : par exemple, utiliser </a:t>
            </a:r>
            <a:r>
              <a:rPr lang="fr-FR" dirty="0" err="1"/>
              <a:t>Micrometer</a:t>
            </a:r>
            <a:r>
              <a:rPr lang="fr-FR" dirty="0"/>
              <a:t> seul, sans embarquer tout </a:t>
            </a:r>
            <a:r>
              <a:rPr lang="fr-FR" dirty="0" err="1"/>
              <a:t>Actuator</a:t>
            </a:r>
            <a:endParaRPr lang="fr-FR" dirty="0"/>
          </a:p>
          <a:p>
            <a:pPr marL="742950" lvl="1" indent="-285750">
              <a:buFont typeface="Arial" panose="020B0604020202020204" pitchFamily="34" charset="0"/>
              <a:buChar char="•"/>
            </a:pPr>
            <a:r>
              <a:rPr lang="fr-FR" dirty="0"/>
              <a:t>Le module </a:t>
            </a:r>
            <a:r>
              <a:rPr lang="fr-FR" dirty="0" err="1">
                <a:latin typeface="Courier New" panose="02070309020205020404" pitchFamily="49" charset="0"/>
              </a:rPr>
              <a:t>spring</a:t>
            </a:r>
            <a:r>
              <a:rPr lang="fr-FR" dirty="0">
                <a:latin typeface="Courier New" panose="02070309020205020404" pitchFamily="49" charset="0"/>
              </a:rPr>
              <a:t>-boot-test-autoconfigure</a:t>
            </a:r>
            <a:r>
              <a:rPr lang="fr-FR" dirty="0"/>
              <a:t> est lui aussi refactorisé</a:t>
            </a:r>
          </a:p>
        </p:txBody>
      </p:sp>
    </p:spTree>
    <p:extLst>
      <p:ext uri="{BB962C8B-B14F-4D97-AF65-F5344CB8AC3E}">
        <p14:creationId xmlns:p14="http://schemas.microsoft.com/office/powerpoint/2010/main" val="1174470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EE594-0C46-DAE4-105D-3C340AA0762C}"/>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DCA255B2-F350-174E-3428-2CCECCE3A078}"/>
              </a:ext>
            </a:extLst>
          </p:cNvPr>
          <p:cNvSpPr txBox="1"/>
          <p:nvPr/>
        </p:nvSpPr>
        <p:spPr>
          <a:xfrm>
            <a:off x="1862255" y="144966"/>
            <a:ext cx="7047569" cy="369332"/>
          </a:xfrm>
          <a:prstGeom prst="rect">
            <a:avLst/>
          </a:prstGeom>
          <a:noFill/>
        </p:spPr>
        <p:txBody>
          <a:bodyPr wrap="square">
            <a:spAutoFit/>
          </a:bodyPr>
          <a:lstStyle/>
          <a:p>
            <a:r>
              <a:rPr lang="en-US" b="1" dirty="0"/>
              <a:t>JPA 3.2 : </a:t>
            </a:r>
            <a:r>
              <a:rPr lang="fr-FR" dirty="0">
                <a:hlinkClick r:id="rId3"/>
              </a:rPr>
              <a:t>https://jakarta.ee/specifications/persistence/3.2/</a:t>
            </a:r>
            <a:r>
              <a:rPr lang="fr-FR" dirty="0"/>
              <a:t> </a:t>
            </a:r>
          </a:p>
        </p:txBody>
      </p:sp>
      <p:sp>
        <p:nvSpPr>
          <p:cNvPr id="8" name="ZoneTexte 7">
            <a:extLst>
              <a:ext uri="{FF2B5EF4-FFF2-40B4-BE49-F238E27FC236}">
                <a16:creationId xmlns:a16="http://schemas.microsoft.com/office/drawing/2014/main" id="{1E156312-A67E-3016-C3AE-C148C93B0C53}"/>
              </a:ext>
            </a:extLst>
          </p:cNvPr>
          <p:cNvSpPr txBox="1"/>
          <p:nvPr/>
        </p:nvSpPr>
        <p:spPr>
          <a:xfrm>
            <a:off x="489098" y="641888"/>
            <a:ext cx="8966790" cy="4001095"/>
          </a:xfrm>
          <a:prstGeom prst="rect">
            <a:avLst/>
          </a:prstGeom>
          <a:noFill/>
        </p:spPr>
        <p:txBody>
          <a:bodyPr wrap="square">
            <a:spAutoFit/>
          </a:bodyPr>
          <a:lstStyle/>
          <a:p>
            <a:pPr>
              <a:buNone/>
            </a:pPr>
            <a:r>
              <a:rPr lang="en-US" b="1" u="sng" dirty="0" err="1"/>
              <a:t>Intéraction</a:t>
            </a:r>
            <a:r>
              <a:rPr lang="en-US" b="1" u="sng" dirty="0"/>
              <a:t> </a:t>
            </a:r>
            <a:r>
              <a:rPr lang="en-US" b="1" u="sng" dirty="0" err="1"/>
              <a:t>programmatiques</a:t>
            </a:r>
            <a:r>
              <a:rPr lang="en-US" b="1" u="sng" dirty="0"/>
              <a:t> avec les </a:t>
            </a:r>
            <a:r>
              <a:rPr lang="en-US" b="1" u="sng" dirty="0" err="1"/>
              <a:t>schémas</a:t>
            </a:r>
            <a:r>
              <a:rPr lang="en-US" b="1" u="sng" dirty="0"/>
              <a:t> :</a:t>
            </a:r>
          </a:p>
          <a:p>
            <a:pPr>
              <a:buNone/>
            </a:pPr>
            <a:endParaRPr lang="en-US" b="1" dirty="0"/>
          </a:p>
          <a:p>
            <a:pPr>
              <a:buNone/>
            </a:pPr>
            <a:r>
              <a:rPr lang="en-US" dirty="0" err="1">
                <a:latin typeface="Courier New" panose="02070309020205020404" pitchFamily="49" charset="0"/>
              </a:rPr>
              <a:t>emf.getSchemaManager</a:t>
            </a:r>
            <a:r>
              <a:rPr lang="en-US" dirty="0">
                <a:latin typeface="Courier New" panose="02070309020205020404" pitchFamily="49" charset="0"/>
              </a:rPr>
              <a:t>().create(</a:t>
            </a:r>
            <a:r>
              <a:rPr lang="en-US" dirty="0">
                <a:solidFill>
                  <a:srgbClr val="006699"/>
                </a:solidFill>
                <a:effectLst/>
                <a:latin typeface="Courier New" panose="02070309020205020404" pitchFamily="49" charset="0"/>
              </a:rPr>
              <a:t>true</a:t>
            </a:r>
            <a:r>
              <a:rPr lang="en-US" dirty="0">
                <a:latin typeface="Courier New" panose="02070309020205020404" pitchFamily="49" charset="0"/>
              </a:rPr>
              <a:t>); </a:t>
            </a:r>
            <a:r>
              <a:rPr lang="en-US" dirty="0">
                <a:solidFill>
                  <a:srgbClr val="777777"/>
                </a:solidFill>
                <a:effectLst/>
                <a:latin typeface="Courier New" panose="02070309020205020404" pitchFamily="49" charset="0"/>
              </a:rPr>
              <a:t>// create all the tables and stuff</a:t>
            </a:r>
            <a:endParaRPr lang="en-US" dirty="0">
              <a:latin typeface="Courier New" panose="02070309020205020404" pitchFamily="49" charset="0"/>
            </a:endParaRPr>
          </a:p>
          <a:p>
            <a:pPr>
              <a:buNone/>
            </a:pPr>
            <a:r>
              <a:rPr lang="en-US" dirty="0" err="1">
                <a:latin typeface="Courier New" panose="02070309020205020404" pitchFamily="49" charset="0"/>
              </a:rPr>
              <a:t>emf.getSchemaManager</a:t>
            </a:r>
            <a:r>
              <a:rPr lang="en-US" dirty="0">
                <a:latin typeface="Courier New" panose="02070309020205020404" pitchFamily="49" charset="0"/>
              </a:rPr>
              <a:t>().truncate(); </a:t>
            </a:r>
            <a:r>
              <a:rPr lang="en-US" dirty="0">
                <a:solidFill>
                  <a:srgbClr val="777777"/>
                </a:solidFill>
                <a:effectLst/>
                <a:latin typeface="Courier New" panose="02070309020205020404" pitchFamily="49" charset="0"/>
              </a:rPr>
              <a:t>// destroy all my data</a:t>
            </a:r>
            <a:endParaRPr lang="en-US" dirty="0">
              <a:latin typeface="Courier New" panose="02070309020205020404" pitchFamily="49" charset="0"/>
            </a:endParaRPr>
          </a:p>
          <a:p>
            <a:pPr>
              <a:buNone/>
            </a:pPr>
            <a:endParaRPr lang="en-US" b="1" dirty="0"/>
          </a:p>
          <a:p>
            <a:pPr>
              <a:buNone/>
            </a:pPr>
            <a:r>
              <a:rPr lang="en-US" b="1" dirty="0"/>
              <a:t>Gestion </a:t>
            </a:r>
            <a:r>
              <a:rPr lang="en-US" b="1" dirty="0" err="1"/>
              <a:t>programmatique</a:t>
            </a:r>
            <a:r>
              <a:rPr lang="en-US" b="1" dirty="0"/>
              <a:t> des transactions (utile pour les tests)</a:t>
            </a:r>
          </a:p>
          <a:p>
            <a:pPr>
              <a:buNone/>
            </a:pPr>
            <a:r>
              <a:rPr lang="en-US" sz="1600" dirty="0"/>
              <a:t>The </a:t>
            </a:r>
            <a:r>
              <a:rPr lang="en-US" sz="1600" dirty="0" err="1">
                <a:latin typeface="Courier New" panose="02070309020205020404" pitchFamily="49" charset="0"/>
              </a:rPr>
              <a:t>EntityManagerFactory</a:t>
            </a:r>
            <a:r>
              <a:rPr lang="en-US" sz="1600" dirty="0"/>
              <a:t> now has operations to perform work in a transaction, relieving the developer of the need to write messy exception handling code.</a:t>
            </a:r>
          </a:p>
          <a:p>
            <a:pPr>
              <a:buNone/>
            </a:pPr>
            <a:endParaRPr lang="en-US" sz="1600" dirty="0"/>
          </a:p>
          <a:p>
            <a:pPr>
              <a:buNone/>
            </a:pPr>
            <a:r>
              <a:rPr lang="en-US" sz="1600" dirty="0" err="1">
                <a:latin typeface="Courier New" panose="02070309020205020404" pitchFamily="49" charset="0"/>
              </a:rPr>
              <a:t>emf.runInTransaction</a:t>
            </a:r>
            <a:r>
              <a:rPr lang="en-US" sz="1600" dirty="0">
                <a:latin typeface="Courier New" panose="02070309020205020404" pitchFamily="49" charset="0"/>
              </a:rPr>
              <a:t>(</a:t>
            </a:r>
            <a:r>
              <a:rPr lang="en-US" sz="1600" dirty="0" err="1">
                <a:latin typeface="Courier New" panose="02070309020205020404" pitchFamily="49" charset="0"/>
              </a:rPr>
              <a:t>em</a:t>
            </a:r>
            <a:r>
              <a:rPr lang="en-US" sz="1600" dirty="0">
                <a:latin typeface="Courier New" panose="02070309020205020404" pitchFamily="49" charset="0"/>
              </a:rPr>
              <a:t> -&gt; </a:t>
            </a:r>
            <a:r>
              <a:rPr lang="en-US" sz="1600" dirty="0" err="1">
                <a:latin typeface="Courier New" panose="02070309020205020404" pitchFamily="49" charset="0"/>
              </a:rPr>
              <a:t>em.persist</a:t>
            </a:r>
            <a:r>
              <a:rPr lang="en-US" sz="1600" dirty="0">
                <a:latin typeface="Courier New" panose="02070309020205020404" pitchFamily="49" charset="0"/>
              </a:rPr>
              <a:t>(book));</a:t>
            </a:r>
          </a:p>
          <a:p>
            <a:pPr>
              <a:buNone/>
            </a:pPr>
            <a:endParaRPr lang="en-US" sz="1600" dirty="0">
              <a:latin typeface="Courier New" panose="02070309020205020404" pitchFamily="49" charset="0"/>
            </a:endParaRPr>
          </a:p>
          <a:p>
            <a:pPr>
              <a:buNone/>
            </a:pPr>
            <a:r>
              <a:rPr lang="en-US" sz="1600" dirty="0"/>
              <a:t>There’s a version for work which returns a value.</a:t>
            </a:r>
          </a:p>
          <a:p>
            <a:pPr>
              <a:buNone/>
            </a:pPr>
            <a:endParaRPr lang="en-US" sz="1600" dirty="0"/>
          </a:p>
          <a:p>
            <a:pPr>
              <a:buNone/>
            </a:pPr>
            <a:r>
              <a:rPr lang="en-US" sz="1600" b="1" dirty="0">
                <a:solidFill>
                  <a:srgbClr val="333399"/>
                </a:solidFill>
                <a:effectLst/>
                <a:latin typeface="Courier New" panose="02070309020205020404" pitchFamily="49" charset="0"/>
              </a:rPr>
              <a:t>var</a:t>
            </a:r>
            <a:r>
              <a:rPr lang="en-US" sz="1600" dirty="0">
                <a:latin typeface="Courier New" panose="02070309020205020404" pitchFamily="49" charset="0"/>
              </a:rPr>
              <a:t> book = </a:t>
            </a:r>
            <a:r>
              <a:rPr lang="en-US" sz="1600" dirty="0" err="1">
                <a:latin typeface="Courier New" panose="02070309020205020404" pitchFamily="49" charset="0"/>
              </a:rPr>
              <a:t>emf.callInTransaction</a:t>
            </a:r>
            <a:r>
              <a:rPr lang="en-US" sz="1600" dirty="0">
                <a:latin typeface="Courier New" panose="02070309020205020404" pitchFamily="49" charset="0"/>
              </a:rPr>
              <a:t>(</a:t>
            </a:r>
            <a:r>
              <a:rPr lang="en-US" sz="1600" dirty="0" err="1">
                <a:latin typeface="Courier New" panose="02070309020205020404" pitchFamily="49" charset="0"/>
              </a:rPr>
              <a:t>em</a:t>
            </a:r>
            <a:r>
              <a:rPr lang="en-US" sz="1600" dirty="0">
                <a:latin typeface="Courier New" panose="02070309020205020404" pitchFamily="49" charset="0"/>
              </a:rPr>
              <a:t> -&gt; </a:t>
            </a:r>
            <a:r>
              <a:rPr lang="en-US" sz="1600" dirty="0" err="1">
                <a:latin typeface="Courier New" panose="02070309020205020404" pitchFamily="49" charset="0"/>
              </a:rPr>
              <a:t>em.find</a:t>
            </a:r>
            <a:r>
              <a:rPr lang="en-US" sz="1600" dirty="0">
                <a:latin typeface="Courier New" panose="02070309020205020404" pitchFamily="49" charset="0"/>
              </a:rPr>
              <a:t>(</a:t>
            </a:r>
            <a:r>
              <a:rPr lang="en-US" sz="1600" b="1" dirty="0" err="1">
                <a:solidFill>
                  <a:srgbClr val="00AA88"/>
                </a:solidFill>
                <a:effectLst/>
                <a:latin typeface="Courier New" panose="02070309020205020404" pitchFamily="49" charset="0"/>
              </a:rPr>
              <a:t>Book</a:t>
            </a:r>
            <a:r>
              <a:rPr lang="en-US" sz="1600" dirty="0" err="1">
                <a:latin typeface="Courier New" panose="02070309020205020404" pitchFamily="49" charset="0"/>
              </a:rPr>
              <a:t>.class</a:t>
            </a:r>
            <a:r>
              <a:rPr lang="en-US" sz="1600" dirty="0">
                <a:latin typeface="Courier New" panose="02070309020205020404" pitchFamily="49" charset="0"/>
              </a:rPr>
              <a:t>, </a:t>
            </a:r>
            <a:r>
              <a:rPr lang="en-US" sz="1600" dirty="0" err="1">
                <a:latin typeface="Courier New" panose="02070309020205020404" pitchFamily="49" charset="0"/>
              </a:rPr>
              <a:t>isbn</a:t>
            </a:r>
            <a:r>
              <a:rPr lang="en-US" sz="1600" dirty="0">
                <a:latin typeface="Courier New" panose="02070309020205020404" pitchFamily="49" charset="0"/>
              </a:rPr>
              <a:t>));</a:t>
            </a:r>
          </a:p>
        </p:txBody>
      </p:sp>
    </p:spTree>
    <p:extLst>
      <p:ext uri="{BB962C8B-B14F-4D97-AF65-F5344CB8AC3E}">
        <p14:creationId xmlns:p14="http://schemas.microsoft.com/office/powerpoint/2010/main" val="1218248130"/>
      </p:ext>
    </p:extLst>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46447</TotalTime>
  <Words>1137</Words>
  <Application>Microsoft Office PowerPoint</Application>
  <PresentationFormat>Personnalisé</PresentationFormat>
  <Paragraphs>135</Paragraphs>
  <Slides>17</Slides>
  <Notes>15</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17</vt:i4>
      </vt:variant>
    </vt:vector>
  </HeadingPairs>
  <TitlesOfParts>
    <vt:vector size="24" baseType="lpstr">
      <vt:lpstr>Aptos</vt:lpstr>
      <vt:lpstr>Arial</vt:lpstr>
      <vt:lpstr>Courier New</vt:lpstr>
      <vt:lpstr>Liberation Sans</vt:lpstr>
      <vt:lpstr>Liberation Serif</vt:lpstr>
      <vt:lpstr>StarSymbol</vt:lpstr>
      <vt:lpstr>Default</vt:lpstr>
      <vt:lpstr>Présentation PowerPoint</vt:lpstr>
      <vt:lpstr>Présentation PowerPoint</vt:lpstr>
      <vt:lpstr>Présentation PowerPoint</vt:lpstr>
      <vt:lpstr>API backward compatibility</vt:lpstr>
      <vt:lpstr>Drift toward functional ...</vt:lpstr>
      <vt:lpstr>Don’t of Java</vt:lpstr>
      <vt:lpstr>Présentation PowerPoint</vt:lpstr>
      <vt:lpstr>Java 21 → Java 25</vt:lpstr>
      <vt:lpstr>Présentation PowerPoint</vt:lpstr>
      <vt:lpstr>Présentation PowerPoint</vt:lpstr>
      <vt:lpstr>Synchronized + IO calls</vt:lpstr>
      <vt:lpstr>Synchronized + IO calls</vt:lpstr>
      <vt:lpstr>ScopeValue ThreadLocal replacement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Sebastien Leboucher</dc:creator>
  <cp:lastModifiedBy>Sebastien Leboucher</cp:lastModifiedBy>
  <cp:revision>2105</cp:revision>
  <cp:lastPrinted>2025-09-10T12:07:18Z</cp:lastPrinted>
  <dcterms:created xsi:type="dcterms:W3CDTF">2019-08-09T22:02:58Z</dcterms:created>
  <dcterms:modified xsi:type="dcterms:W3CDTF">2025-10-28T20:38:09Z</dcterms:modified>
</cp:coreProperties>
</file>